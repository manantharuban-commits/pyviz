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35040" y="0"/>
            <a:ext cx="3108960" cy="5143500"/>
          </a:xfrm>
          <a:prstGeom prst="rect">
            <a:avLst/>
          </a:prstGeom>
          <a:solidFill>
            <a:srgbClr val="0C1E3A"/>
          </a:solidFill>
          <a:ln w="12700">
            <a:solidFill>
              <a:srgbClr val="0C1E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548640"/>
            <a:ext cx="91440" cy="91440"/>
          </a:xfrm>
          <a:prstGeom prst="ellipse">
            <a:avLst/>
          </a:prstGeom>
          <a:solidFill>
            <a:srgbClr val="0891B2">
              <a:alpha val="40000"/>
            </a:srgbClr>
          </a:solidFill>
          <a:ln w="12700">
            <a:solidFill>
              <a:srgbClr val="0891B2">
                <a:alpha val="4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49440" y="548640"/>
            <a:ext cx="91440" cy="91440"/>
          </a:xfrm>
          <a:prstGeom prst="ellipse">
            <a:avLst/>
          </a:prstGeom>
          <a:solidFill>
            <a:srgbClr val="0891B2">
              <a:alpha val="40000"/>
            </a:srgbClr>
          </a:solidFill>
          <a:ln w="12700">
            <a:solidFill>
              <a:srgbClr val="0891B2">
                <a:alpha val="4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0" y="548640"/>
            <a:ext cx="91440" cy="91440"/>
          </a:xfrm>
          <a:prstGeom prst="ellipse">
            <a:avLst/>
          </a:prstGeom>
          <a:solidFill>
            <a:srgbClr val="0891B2">
              <a:alpha val="40000"/>
            </a:srgbClr>
          </a:solidFill>
          <a:ln w="12700">
            <a:solidFill>
              <a:srgbClr val="0891B2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371600"/>
            <a:ext cx="91440" cy="91440"/>
          </a:xfrm>
          <a:prstGeom prst="ellipse">
            <a:avLst/>
          </a:prstGeom>
          <a:solidFill>
            <a:srgbClr val="0891B2">
              <a:alpha val="40000"/>
            </a:srgbClr>
          </a:solidFill>
          <a:ln w="12700">
            <a:solidFill>
              <a:srgbClr val="0891B2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49440" y="1371600"/>
            <a:ext cx="91440" cy="91440"/>
          </a:xfrm>
          <a:prstGeom prst="ellipse">
            <a:avLst/>
          </a:prstGeom>
          <a:solidFill>
            <a:srgbClr val="0891B2">
              <a:alpha val="40000"/>
            </a:srgbClr>
          </a:solidFill>
          <a:ln w="12700">
            <a:solidFill>
              <a:srgbClr val="0891B2">
                <a:alpha val="4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0" y="1371600"/>
            <a:ext cx="91440" cy="91440"/>
          </a:xfrm>
          <a:prstGeom prst="ellipse">
            <a:avLst/>
          </a:prstGeom>
          <a:solidFill>
            <a:srgbClr val="0891B2">
              <a:alpha val="40000"/>
            </a:srgbClr>
          </a:solidFill>
          <a:ln w="12700">
            <a:solidFill>
              <a:srgbClr val="0891B2">
                <a:alpha val="4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2194560"/>
            <a:ext cx="91440" cy="91440"/>
          </a:xfrm>
          <a:prstGeom prst="ellipse">
            <a:avLst/>
          </a:prstGeom>
          <a:solidFill>
            <a:srgbClr val="0891B2">
              <a:alpha val="40000"/>
            </a:srgbClr>
          </a:solidFill>
          <a:ln w="12700">
            <a:solidFill>
              <a:srgbClr val="0891B2">
                <a:alpha val="4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0" y="2194560"/>
            <a:ext cx="91440" cy="91440"/>
          </a:xfrm>
          <a:prstGeom prst="ellipse">
            <a:avLst/>
          </a:prstGeom>
          <a:solidFill>
            <a:srgbClr val="0891B2">
              <a:alpha val="40000"/>
            </a:srgbClr>
          </a:solidFill>
          <a:ln w="12700">
            <a:solidFill>
              <a:srgbClr val="0891B2">
                <a:alpha val="4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0" y="2194560"/>
            <a:ext cx="91440" cy="91440"/>
          </a:xfrm>
          <a:prstGeom prst="ellipse">
            <a:avLst/>
          </a:prstGeom>
          <a:solidFill>
            <a:srgbClr val="0891B2">
              <a:alpha val="40000"/>
            </a:srgbClr>
          </a:solidFill>
          <a:ln w="12700">
            <a:solidFill>
              <a:srgbClr val="0891B2">
                <a:alpha val="4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3017520"/>
            <a:ext cx="91440" cy="91440"/>
          </a:xfrm>
          <a:prstGeom prst="ellipse">
            <a:avLst/>
          </a:prstGeom>
          <a:solidFill>
            <a:srgbClr val="0891B2">
              <a:alpha val="40000"/>
            </a:srgbClr>
          </a:solidFill>
          <a:ln w="12700">
            <a:solidFill>
              <a:srgbClr val="0891B2">
                <a:alpha val="4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0" y="3017520"/>
            <a:ext cx="91440" cy="91440"/>
          </a:xfrm>
          <a:prstGeom prst="ellipse">
            <a:avLst/>
          </a:prstGeom>
          <a:solidFill>
            <a:srgbClr val="0891B2">
              <a:alpha val="40000"/>
            </a:srgbClr>
          </a:solidFill>
          <a:ln w="12700">
            <a:solidFill>
              <a:srgbClr val="0891B2">
                <a:alpha val="4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0" y="3017520"/>
            <a:ext cx="91440" cy="91440"/>
          </a:xfrm>
          <a:prstGeom prst="ellipse">
            <a:avLst/>
          </a:prstGeom>
          <a:solidFill>
            <a:srgbClr val="0891B2">
              <a:alpha val="40000"/>
            </a:srgbClr>
          </a:solidFill>
          <a:ln w="12700">
            <a:solidFill>
              <a:srgbClr val="0891B2">
                <a:alpha val="4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3840480"/>
            <a:ext cx="91440" cy="91440"/>
          </a:xfrm>
          <a:prstGeom prst="ellipse">
            <a:avLst/>
          </a:prstGeom>
          <a:solidFill>
            <a:srgbClr val="0891B2">
              <a:alpha val="40000"/>
            </a:srgbClr>
          </a:solidFill>
          <a:ln w="12700">
            <a:solidFill>
              <a:srgbClr val="0891B2">
                <a:alpha val="4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49440" y="3840480"/>
            <a:ext cx="91440" cy="91440"/>
          </a:xfrm>
          <a:prstGeom prst="ellipse">
            <a:avLst/>
          </a:prstGeom>
          <a:solidFill>
            <a:srgbClr val="0891B2">
              <a:alpha val="40000"/>
            </a:srgbClr>
          </a:solidFill>
          <a:ln w="12700">
            <a:solidFill>
              <a:srgbClr val="0891B2">
                <a:alpha val="4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0" y="3840480"/>
            <a:ext cx="91440" cy="91440"/>
          </a:xfrm>
          <a:prstGeom prst="ellipse">
            <a:avLst/>
          </a:prstGeom>
          <a:solidFill>
            <a:srgbClr val="0891B2">
              <a:alpha val="40000"/>
            </a:srgbClr>
          </a:solidFill>
          <a:ln w="12700">
            <a:solidFill>
              <a:srgbClr val="0891B2">
                <a:alpha val="4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4008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</a:t>
            </a:r>
            <a:endParaRPr lang="en-US" sz="5800" dirty="0"/>
          </a:p>
        </p:txBody>
      </p:sp>
      <p:sp>
        <p:nvSpPr>
          <p:cNvPr id="21" name="Text 19"/>
          <p:cNvSpPr/>
          <p:nvPr/>
        </p:nvSpPr>
        <p:spPr>
          <a:xfrm>
            <a:off x="457200" y="15087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Chart-Driven Reporting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457200" y="2084832"/>
            <a:ext cx="5303520" cy="0"/>
          </a:xfrm>
          <a:prstGeom prst="line">
            <a:avLst/>
          </a:prstGeom>
          <a:noFill/>
          <a:ln w="22860">
            <a:solidFill>
              <a:srgbClr val="0891B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176272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Transforming Risk, Compliance and Data Governance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for Senior Management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2944368"/>
            <a:ext cx="228600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035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  ·  Internal — 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4754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Reporting Challenge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74320" y="47548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teams produce data-rich reports — but the format limits their impact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  ·  Intelligent Chart-Driven Reporting  ·  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74320" y="80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Teams Produce Today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1152144"/>
            <a:ext cx="41605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152144"/>
            <a:ext cx="54864" cy="804672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1207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2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Raw Number Tables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38912" y="1481328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risk, P&amp;L and compliance reports delivered as HTML tables. Readers must interpret rows of figures with no visual context.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048256"/>
            <a:ext cx="41605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048256"/>
            <a:ext cx="54864" cy="804672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2103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2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📸 Stale Screenshots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38912" y="237744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are manually captured from Excel or BI tools and pasted as images. By the time the email arrives, data is already outdated.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2944368"/>
            <a:ext cx="41605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2944368"/>
            <a:ext cx="54864" cy="804672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8912" y="29992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2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High Manual Effort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8912" y="3273552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Analysts spend hours each cycle formatting reports, copying data, and maintaining separate HTML templates per recipient.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3840480"/>
            <a:ext cx="41605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840480"/>
            <a:ext cx="54864" cy="804672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8912" y="389534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2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No Personalisation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38912" y="4169664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recipient receives identical data. There is no mechanism to filter charts or metrics by entity, region or portfolio.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09160" y="80467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Management Needs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663440" y="1152144"/>
            <a:ext cx="4206240" cy="512064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1152144"/>
            <a:ext cx="54864" cy="51206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9744" y="1197864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our credit exposure within limits?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1737360"/>
            <a:ext cx="4206240" cy="512064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1737360"/>
            <a:ext cx="54864" cy="5120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9744" y="178308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capital adequacy trending upward?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663440" y="2322576"/>
            <a:ext cx="4206240" cy="512064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663440" y="2322576"/>
            <a:ext cx="54864" cy="5120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9744" y="2368296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data quality failing this week?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663440" y="2907792"/>
            <a:ext cx="4206240" cy="512064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2907792"/>
            <a:ext cx="54864" cy="51206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9744" y="2953512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this month compare to budget?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663440" y="3493008"/>
            <a:ext cx="4206240" cy="512064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663440" y="3493008"/>
            <a:ext cx="54864" cy="512064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09744" y="3538728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AML cases are breaching review SLA?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663440" y="4078224"/>
            <a:ext cx="4206240" cy="512064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663440" y="4078224"/>
            <a:ext cx="54864" cy="512064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09744" y="4123944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settlement failures increasing?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663440" y="4681728"/>
            <a:ext cx="4206240" cy="164592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63440" y="4681728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questions demand charts. HTML tables cannot answer them visually.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4754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Your HTML Email Cannot Display Charts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74320" y="47548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 renders using its Word engine — not a browser. Most web technologies are stripped.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  ·  Intelligent Chart-Driven Reporting  ·  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28600" y="804672"/>
            <a:ext cx="8686800" cy="347472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80467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blocked by Outlook → Your charts never reach the reader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28600" y="1216152"/>
            <a:ext cx="4251960" cy="1078992"/>
          </a:xfrm>
          <a:prstGeom prst="rect">
            <a:avLst/>
          </a:prstGeom>
          <a:solidFill>
            <a:srgbClr val="FFFFFF"/>
          </a:solidFill>
          <a:ln w="7620">
            <a:solidFill>
              <a:srgbClr val="FCA5A5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8600" y="1216152"/>
            <a:ext cx="4251960" cy="274320"/>
          </a:xfrm>
          <a:prstGeom prst="rect">
            <a:avLst/>
          </a:prstGeom>
          <a:solidFill>
            <a:srgbClr val="DC2626">
              <a:alpha val="92000"/>
            </a:srgbClr>
          </a:solidFill>
          <a:ln w="12700">
            <a:solidFill>
              <a:srgbClr val="DC2626">
                <a:alpha val="92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" y="12161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 &lt;canvas&gt;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8328" y="151790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Outlook's Word rendering engine has no canvas implementation.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38328" y="1892808"/>
            <a:ext cx="4005072" cy="201168"/>
          </a:xfrm>
          <a:prstGeom prst="rect">
            <a:avLst/>
          </a:prstGeom>
          <a:solidFill>
            <a:srgbClr val="FFF1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1892808"/>
            <a:ext cx="3950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Chart.js, D3.js, ECharts — all silent failures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663440" y="1216152"/>
            <a:ext cx="4251960" cy="1078992"/>
          </a:xfrm>
          <a:prstGeom prst="rect">
            <a:avLst/>
          </a:prstGeom>
          <a:solidFill>
            <a:srgbClr val="FFFFFF"/>
          </a:solidFill>
          <a:ln w="7620">
            <a:solidFill>
              <a:srgbClr val="FCA5A5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1216152"/>
            <a:ext cx="4251960" cy="274320"/>
          </a:xfrm>
          <a:prstGeom prst="rect">
            <a:avLst/>
          </a:prstGeom>
          <a:solidFill>
            <a:srgbClr val="DC2626">
              <a:alpha val="92000"/>
            </a:srgbClr>
          </a:solidFill>
          <a:ln w="12700">
            <a:solidFill>
              <a:srgbClr val="DC2626">
                <a:alpha val="92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73168" y="12161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 Inline SVG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773168" y="151790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Outlook versions strip &lt;svg&gt; tags before rendering.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73168" y="1892808"/>
            <a:ext cx="4005072" cy="201168"/>
          </a:xfrm>
          <a:prstGeom prst="rect">
            <a:avLst/>
          </a:prstGeom>
          <a:solidFill>
            <a:srgbClr val="FFF1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1892808"/>
            <a:ext cx="3950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All vector graphics invisible to recipient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28600" y="2386584"/>
            <a:ext cx="4251960" cy="1078992"/>
          </a:xfrm>
          <a:prstGeom prst="rect">
            <a:avLst/>
          </a:prstGeom>
          <a:solidFill>
            <a:srgbClr val="FFFFFF"/>
          </a:solidFill>
          <a:ln w="7620">
            <a:solidFill>
              <a:srgbClr val="FCA5A5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28600" y="2386584"/>
            <a:ext cx="4251960" cy="274320"/>
          </a:xfrm>
          <a:prstGeom prst="rect">
            <a:avLst/>
          </a:prstGeom>
          <a:solidFill>
            <a:srgbClr val="DC2626">
              <a:alpha val="92000"/>
            </a:srgbClr>
          </a:solidFill>
          <a:ln w="12700">
            <a:solidFill>
              <a:srgbClr val="DC2626">
                <a:alpha val="92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8328" y="238658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 JavaScript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38328" y="268833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script execution blocked. No exceptions.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38328" y="3063240"/>
            <a:ext cx="4005072" cy="201168"/>
          </a:xfrm>
          <a:prstGeom prst="rect">
            <a:avLst/>
          </a:prstGeom>
          <a:solidFill>
            <a:srgbClr val="FFF1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063240"/>
            <a:ext cx="3950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Highcharts, Plotly, any JS chart library dead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663440" y="2386584"/>
            <a:ext cx="4251960" cy="1078992"/>
          </a:xfrm>
          <a:prstGeom prst="rect">
            <a:avLst/>
          </a:prstGeom>
          <a:solidFill>
            <a:srgbClr val="FFFFFF"/>
          </a:solidFill>
          <a:ln w="7620">
            <a:solidFill>
              <a:srgbClr val="FCA5A5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63440" y="2386584"/>
            <a:ext cx="4251960" cy="274320"/>
          </a:xfrm>
          <a:prstGeom prst="rect">
            <a:avLst/>
          </a:prstGeom>
          <a:solidFill>
            <a:srgbClr val="DC2626">
              <a:alpha val="92000"/>
            </a:srgbClr>
          </a:solidFill>
          <a:ln w="12700">
            <a:solidFill>
              <a:srgbClr val="DC2626">
                <a:alpha val="92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73168" y="238658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 CSS Animations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773168" y="268833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Keyframes and transitions removed during email processing.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73168" y="3063240"/>
            <a:ext cx="4005072" cy="201168"/>
          </a:xfrm>
          <a:prstGeom prst="rect">
            <a:avLst/>
          </a:prstGeom>
          <a:solidFill>
            <a:srgbClr val="FFF1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0600" y="3063240"/>
            <a:ext cx="3950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No animated or interactive visual elements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28600" y="3557016"/>
            <a:ext cx="4251960" cy="1078992"/>
          </a:xfrm>
          <a:prstGeom prst="rect">
            <a:avLst/>
          </a:prstGeom>
          <a:solidFill>
            <a:srgbClr val="FFFFFF"/>
          </a:solidFill>
          <a:ln w="7620">
            <a:solidFill>
              <a:srgbClr val="FCA5A5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228600" y="3557016"/>
            <a:ext cx="4251960" cy="274320"/>
          </a:xfrm>
          <a:prstGeom prst="rect">
            <a:avLst/>
          </a:prstGeom>
          <a:solidFill>
            <a:srgbClr val="DC2626">
              <a:alpha val="92000"/>
            </a:srgbClr>
          </a:solidFill>
          <a:ln w="12700">
            <a:solidFill>
              <a:srgbClr val="DC2626">
                <a:alpha val="92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8328" y="35570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 Web Fonts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38328" y="38587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@font-face declarations ignored. Falls back to system font.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38328" y="4233672"/>
            <a:ext cx="4005072" cy="201168"/>
          </a:xfrm>
          <a:prstGeom prst="rect">
            <a:avLst/>
          </a:prstGeom>
          <a:solidFill>
            <a:srgbClr val="FFF1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4233672"/>
            <a:ext cx="3950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Chart labels and legends rendered incorrectly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663440" y="3557016"/>
            <a:ext cx="4251960" cy="1078992"/>
          </a:xfrm>
          <a:prstGeom prst="rect">
            <a:avLst/>
          </a:prstGeom>
          <a:solidFill>
            <a:srgbClr val="FFFFFF"/>
          </a:solidFill>
          <a:ln w="7620">
            <a:solidFill>
              <a:srgbClr val="FCA5A5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663440" y="3557016"/>
            <a:ext cx="4251960" cy="274320"/>
          </a:xfrm>
          <a:prstGeom prst="rect">
            <a:avLst/>
          </a:prstGeom>
          <a:solidFill>
            <a:srgbClr val="DC2626">
              <a:alpha val="92000"/>
            </a:srgbClr>
          </a:solidFill>
          <a:ln w="12700">
            <a:solidFill>
              <a:srgbClr val="DC2626">
                <a:alpha val="92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73168" y="35570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 CSS Grid/Flex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773168" y="38587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layout CSS ignored. Tables only.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773168" y="4233672"/>
            <a:ext cx="4005072" cy="201168"/>
          </a:xfrm>
          <a:prstGeom prst="rect">
            <a:avLst/>
          </a:prstGeom>
          <a:solidFill>
            <a:srgbClr val="FFF1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00600" y="4233672"/>
            <a:ext cx="3950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Multi-column chart layouts collapse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228600" y="4681728"/>
            <a:ext cx="8686800" cy="1828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74320" y="4681728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visual element Outlook has always supported: the &lt;img&gt; tag. PyViz exploits this.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4754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PyViz Works — Server-Side Rendering to a Plain Image Tag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74320" y="47548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canvas, no SVG, no JavaScript. PyViz converts charts to PNG and places them as &lt;img&gt; tags.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  ·  Intelligent Chart-Driven Reporting  ·  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04672"/>
            <a:ext cx="26517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04672"/>
            <a:ext cx="2651760" cy="384048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566928"/>
            <a:ext cx="475488" cy="475488"/>
          </a:xfrm>
          <a:prstGeom prst="ellipse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566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75488" y="804672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" y="1225296"/>
            <a:ext cx="24323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existing BigQuery table.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changes to data or schema.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017520" y="1170432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3310128" y="804672"/>
            <a:ext cx="26517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10128" y="804672"/>
            <a:ext cx="26517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01568" y="566928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01568" y="566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419856" y="804672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19856" y="1225296"/>
            <a:ext cx="24323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 reads data and renders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chart to a PNG image.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61888" y="1170432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54496" y="804672"/>
            <a:ext cx="26517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54496" y="804672"/>
            <a:ext cx="2651760" cy="38404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45936" y="566928"/>
            <a:ext cx="475488" cy="47548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45936" y="566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364224" y="804672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64224" y="1225296"/>
            <a:ext cx="24323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PNG embedded as &lt;img&gt; tag.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in every email client.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28600" y="2395728"/>
            <a:ext cx="8686800" cy="438912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2395728"/>
            <a:ext cx="8503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works: </a:t>
            </a:r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src="data:image/png;base64, iVBOR..."&gt;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a standard image tag. Outlook renders images. It always has.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28600" y="294436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Substitution Mechanism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28600" y="3255264"/>
            <a:ext cx="4023360" cy="1463040"/>
          </a:xfrm>
          <a:prstGeom prst="rect">
            <a:avLst/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28600" y="3255264"/>
            <a:ext cx="4023360" cy="25603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2608" y="3255264"/>
            <a:ext cx="3895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html_template (stored in email_list)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20040" y="3547872"/>
            <a:ext cx="38404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F2D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&lt;h2&gt;Monthly Risk Report&lt;/h2&gt;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F2D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&lt;p&gt;Portfolio summary for {email_id}&lt;/p&gt;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F2D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{{EXPOSURE_HEATMAP}}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F2D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{{VAR_TREND_CHART}}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0040" y="3931920"/>
            <a:ext cx="1920240" cy="182880"/>
          </a:xfrm>
          <a:prstGeom prst="rect">
            <a:avLst/>
          </a:prstGeom>
          <a:solidFill>
            <a:srgbClr val="D97706">
              <a:alpha val="8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" y="3931920"/>
            <a:ext cx="1901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{{EXPOSURE_HEATMAP}}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297680" y="409651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4279392" y="4480560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828032" y="3255264"/>
            <a:ext cx="4087368" cy="1463040"/>
          </a:xfrm>
          <a:prstGeom prst="rect">
            <a:avLst/>
          </a:prstGeom>
          <a:solidFill>
            <a:srgbClr val="F0FDF4"/>
          </a:solidFill>
          <a:ln w="9525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828032" y="3255264"/>
            <a:ext cx="4087368" cy="25603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92040" y="3255264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HTML delivered to recipient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892040" y="3547872"/>
            <a:ext cx="395020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&lt;h2&gt;Monthly Risk Report&lt;/h2&gt;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&lt;p&gt;Portfolio summary for EMP-042&lt;/p&gt;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src="data:image/png;base64,iVBOR..."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width="600" /&gt;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65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src="data:image/png;base64,iVBOR..."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92040" y="3931920"/>
            <a:ext cx="3273552" cy="182880"/>
          </a:xfrm>
          <a:prstGeom prst="rect">
            <a:avLst/>
          </a:prstGeom>
          <a:solidFill>
            <a:srgbClr val="16A34A">
              <a:alpha val="15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19472" y="3931920"/>
            <a:ext cx="3218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chart rendered inline as PNG image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4754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Workflow — email_list to email_output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74320" y="47548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stages, all configuration-driven — no code changes required per report or recipient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  ·  Intelligent Chart-Driven Reporting  ·  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0040" y="804672"/>
            <a:ext cx="1481328" cy="749808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74904" y="84124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email_list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74904" y="117043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receives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report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801368" y="804672"/>
            <a:ext cx="2194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020824" y="804672"/>
            <a:ext cx="1481328" cy="74980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075688" y="84124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75688" y="117043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reports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chart config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502152" y="804672"/>
            <a:ext cx="2194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721608" y="804672"/>
            <a:ext cx="1481328" cy="74980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776472" y="84124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Resolve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776472" y="117043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recipient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202936" y="804672"/>
            <a:ext cx="2194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22392" y="804672"/>
            <a:ext cx="1481328" cy="7498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477256" y="84124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Render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77256" y="117043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→ PNG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 parallel threads)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903720" y="804672"/>
            <a:ext cx="2194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123176" y="804672"/>
            <a:ext cx="1481328" cy="74980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178040" y="84124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email_output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78040" y="117043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HTML +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to BigQuery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1060704" y="1554480"/>
            <a:ext cx="0" cy="164592"/>
          </a:xfrm>
          <a:prstGeom prst="line">
            <a:avLst/>
          </a:prstGeom>
          <a:noFill/>
          <a:ln w="15240">
            <a:solidFill>
              <a:srgbClr val="0F2D5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" y="1664208"/>
            <a:ext cx="1481328" cy="2944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0040" y="1664208"/>
            <a:ext cx="1481328" cy="256032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" y="1664208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email_list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11480" y="1956816"/>
            <a:ext cx="1335024" cy="2596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report × recipient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html_template with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{{CHART_VAR}} placeholders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recipient_email, subject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filter_params JSON overrides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tokens per recipient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report_name links to chart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configuration view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761488" y="1554480"/>
            <a:ext cx="0" cy="164592"/>
          </a:xfrm>
          <a:prstGeom prst="line">
            <a:avLst/>
          </a:prstGeom>
          <a:noFill/>
          <a:ln w="15240">
            <a:solidFill>
              <a:srgbClr val="1565C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0824" y="1664208"/>
            <a:ext cx="1481328" cy="2944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020824" y="1664208"/>
            <a:ext cx="1481328" cy="25603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075688" y="1664208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Logic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112264" y="1956816"/>
            <a:ext cx="1335024" cy="2596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joins email_list with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chart_config_view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Joined on: report_name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one row per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(recipient × chart)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chart_type, bq_table,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columns, filters, title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sort_position controls order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within each email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462272" y="1554480"/>
            <a:ext cx="0" cy="164592"/>
          </a:xfrm>
          <a:prstGeom prst="line">
            <a:avLst/>
          </a:prstGeom>
          <a:noFill/>
          <a:ln w="15240">
            <a:solidFill>
              <a:srgbClr val="0891B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1608" y="1664208"/>
            <a:ext cx="1481328" cy="2944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721608" y="1664208"/>
            <a:ext cx="1481328" cy="25603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76472" y="1664208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Resolution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813048" y="1956816"/>
            <a:ext cx="1335024" cy="2596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{today} → 2026-05-11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{this_month} → 2026-05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{this_quarter_year} → Q2-2026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{email_id} → EMP-042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to: SQL WHERE clause,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chart title, email subject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filter_params override built-ins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163056" y="1554480"/>
            <a:ext cx="0" cy="164592"/>
          </a:xfrm>
          <a:prstGeom prst="line">
            <a:avLst/>
          </a:prstGeom>
          <a:noFill/>
          <a:ln w="15240">
            <a:solidFill>
              <a:srgbClr val="0D948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22392" y="1664208"/>
            <a:ext cx="1481328" cy="2944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5422392" y="1664208"/>
            <a:ext cx="1481328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77256" y="1664208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Rendering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513832" y="1956816"/>
            <a:ext cx="1335024" cy="2596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SELECT query per chart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Fetches data from BigQuery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Vega-Altair renders chart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vl-convert exports to PNG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PNG encoded as base64 string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charts render in parallel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7863840" y="1554480"/>
            <a:ext cx="0" cy="164592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23176" y="1664208"/>
            <a:ext cx="1481328" cy="2944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7123176" y="1664208"/>
            <a:ext cx="1481328" cy="25603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178040" y="1664208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&amp; Audit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214616" y="1956816"/>
            <a:ext cx="1335024" cy="2596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{{VAR}} replaced with &lt;img&gt; tag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HTML file per recipient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written to output_emails/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email_output table updated: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status: SUCCESS/WARN/FAILED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charts_injected / total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error_message + timestamp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4754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One New Chart — 15 Minutes, SQL Only, Zero Python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74320" y="47548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analyst adds a chart by writing one SQL block and placing one token in the HTML template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  ·  Intelligent Chart-Driven Reporting  ·  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01168" y="777240"/>
            <a:ext cx="8741664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01168" y="777240"/>
            <a:ext cx="54864" cy="157276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9184" y="850392"/>
            <a:ext cx="347472" cy="347472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" y="8503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8096" y="905256"/>
            <a:ext cx="658368" cy="219456"/>
          </a:xfrm>
          <a:prstGeom prst="rect">
            <a:avLst/>
          </a:prstGeom>
          <a:solidFill>
            <a:srgbClr val="1565C0">
              <a:alpha val="20000"/>
            </a:srgbClr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905256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508760" y="850392"/>
            <a:ext cx="7269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one UNION ALL block to chart_config_view (BigQuery SQL only)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508760" y="1234440"/>
            <a:ext cx="7269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ⓘ  This is the only step that requires any code — plain SQL written directly in the BigQuery console.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508760" y="1435608"/>
            <a:ext cx="7269480" cy="859536"/>
          </a:xfrm>
          <a:prstGeom prst="rect">
            <a:avLst/>
          </a:prstGeom>
          <a:solidFill>
            <a:srgbClr val="0B1F3A"/>
          </a:solidFill>
          <a:ln w="12700">
            <a:solidFill>
              <a:srgbClr val="08192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508760" y="1435608"/>
            <a:ext cx="7269480" cy="201168"/>
          </a:xfrm>
          <a:prstGeom prst="rect">
            <a:avLst/>
          </a:prstGeom>
          <a:solidFill>
            <a:srgbClr val="08192E"/>
          </a:solidFill>
          <a:ln w="12700">
            <a:solidFill>
              <a:srgbClr val="0819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00200" y="14356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600200" y="1664208"/>
            <a:ext cx="71048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'Risk_Daily_Report'  AS report_name,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'EXPOSURE_HEATMAP'   AS variable_name,  -- matches {{EXPOSURE_HEATMAP}} in template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'heatmap_altair'     AS chart_type,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'risk.counterparty'  AS bq_table,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'date = {today}'     AS filters,        -- auto-resolved at run time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'counterparty'       AS x_column,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'exposure_usd'       AS y_columns,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'Counterparty Exposure by Currency'  AS title,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'teal'               AS color_theme,    620  AS width_px,  340  AS height_px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01168" y="2395728"/>
            <a:ext cx="8741664" cy="10424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01168" y="2395728"/>
            <a:ext cx="54864" cy="104241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9184" y="2468880"/>
            <a:ext cx="347472" cy="34747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9184" y="2468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68096" y="2523744"/>
            <a:ext cx="658368" cy="219456"/>
          </a:xfrm>
          <a:prstGeom prst="rect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8096" y="252374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min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508760" y="2468880"/>
            <a:ext cx="7269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{{EXPOSURE_HEATMAP}} placeholder into html_template (one SQL UPDATE)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08760" y="2852928"/>
            <a:ext cx="7269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ⓘ  The engine detects every {{TOKEN}} in the template automatically. No Python change needed.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508760" y="3054096"/>
            <a:ext cx="7269480" cy="329184"/>
          </a:xfrm>
          <a:prstGeom prst="rect">
            <a:avLst/>
          </a:prstGeom>
          <a:solidFill>
            <a:srgbClr val="0B1F3A"/>
          </a:solidFill>
          <a:ln w="12700">
            <a:solidFill>
              <a:srgbClr val="08192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508760" y="3054096"/>
            <a:ext cx="7269480" cy="201168"/>
          </a:xfrm>
          <a:prstGeom prst="rect">
            <a:avLst/>
          </a:prstGeom>
          <a:solidFill>
            <a:srgbClr val="08192E"/>
          </a:solidFill>
          <a:ln w="12700">
            <a:solidFill>
              <a:srgbClr val="0819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00200" y="30540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600200" y="3282696"/>
            <a:ext cx="7104888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 email_list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 html_template = html_template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|| '&lt;h3&gt;Counterparty Exposure — Today&lt;/h3&gt;{{EXPOSURE_HEATMAP}}'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report_name = 'Risk_Daily_Report';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01168" y="3483864"/>
            <a:ext cx="8741664" cy="10424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201168" y="3483864"/>
            <a:ext cx="54864" cy="104241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" y="3557016"/>
            <a:ext cx="347472" cy="34747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" y="35570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68096" y="3611880"/>
            <a:ext cx="658368" cy="219456"/>
          </a:xfrm>
          <a:prstGeom prst="rect">
            <a:avLst/>
          </a:prstGeom>
          <a:solidFill>
            <a:srgbClr val="16A34A">
              <a:alpha val="20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68096" y="361188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sec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1508760" y="3557016"/>
            <a:ext cx="7269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engine — the chart appears in every recipient's email automatically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508760" y="3941064"/>
            <a:ext cx="7269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ⓘ  No Python files edited. No deployment. The engine picks up the new chart on the next run.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508760" y="4142232"/>
            <a:ext cx="7269480" cy="329184"/>
          </a:xfrm>
          <a:prstGeom prst="rect">
            <a:avLst/>
          </a:prstGeom>
          <a:solidFill>
            <a:srgbClr val="0B1F3A"/>
          </a:solidFill>
          <a:ln w="12700">
            <a:solidFill>
              <a:srgbClr val="08192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1508760" y="4142232"/>
            <a:ext cx="7269480" cy="201168"/>
          </a:xfrm>
          <a:prstGeom prst="rect">
            <a:avLst/>
          </a:prstGeom>
          <a:solidFill>
            <a:srgbClr val="08192E"/>
          </a:solidFill>
          <a:ln w="12700">
            <a:solidFill>
              <a:srgbClr val="08192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600200" y="4142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1600200" y="4370832"/>
            <a:ext cx="7104888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chart_email_engine_v15.py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✓  EXPOSURE_HEATMAP  [heatmap_altair]  pos=2  (58,432 chars)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✓  Saved → output_emails/Risk_Daily_Report__EMP-042.html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✓  Status: SUCCESS   charts=2/2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4754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Chart Types — All Available Today, All Config-Driven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74320" y="47548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chart_type in chart_config_view — no Python required to use any of these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  ·  Intelligent Chart-Driven Reporting  ·  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28600" y="804672"/>
            <a:ext cx="4315968" cy="23774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804672"/>
            <a:ext cx="4133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ANALYSIS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28600" y="1060704"/>
            <a:ext cx="4315968" cy="53035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" y="1060704"/>
            <a:ext cx="45720" cy="530352"/>
          </a:xfrm>
          <a:prstGeom prst="rect">
            <a:avLst/>
          </a:prstGeom>
          <a:solidFill>
            <a:srgbClr val="1565C0">
              <a:alpha val="80000"/>
            </a:srgbClr>
          </a:solidFill>
          <a:ln w="12700">
            <a:solidFill>
              <a:srgbClr val="1565C0">
                <a:alpha val="8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" y="1097280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194560" y="1115568"/>
            <a:ext cx="2212848" cy="164592"/>
          </a:xfrm>
          <a:prstGeom prst="rect">
            <a:avLst/>
          </a:prstGeom>
          <a:solidFill>
            <a:srgbClr val="1565C0">
              <a:alpha val="12000"/>
            </a:srgbClr>
          </a:solidFill>
          <a:ln w="12700">
            <a:solidFill>
              <a:srgbClr val="1565C0">
                <a:alpha val="4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212848" y="111556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line_altair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56616" y="1335024"/>
            <a:ext cx="4133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volume or rate trends over time. Shows direction and inflection points.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28600" y="1609344"/>
            <a:ext cx="4315968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" y="1609344"/>
            <a:ext cx="45720" cy="530352"/>
          </a:xfrm>
          <a:prstGeom prst="rect">
            <a:avLst/>
          </a:prstGeom>
          <a:solidFill>
            <a:srgbClr val="1565C0">
              <a:alpha val="80000"/>
            </a:srgbClr>
          </a:solidFill>
          <a:ln w="12700">
            <a:solidFill>
              <a:srgbClr val="1565C0">
                <a:alpha val="8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6616" y="1645920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Chart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194560" y="1664208"/>
            <a:ext cx="2212848" cy="164592"/>
          </a:xfrm>
          <a:prstGeom prst="rect">
            <a:avLst/>
          </a:prstGeom>
          <a:solidFill>
            <a:srgbClr val="1565C0">
              <a:alpha val="12000"/>
            </a:srgbClr>
          </a:solidFill>
          <a:ln w="12700">
            <a:solidFill>
              <a:srgbClr val="1565C0">
                <a:alpha val="4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12848" y="166420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area_altair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56616" y="1883664"/>
            <a:ext cx="4133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or stacked metrics over time. Visual weight reinforces magnitude.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28600" y="2212848"/>
            <a:ext cx="4315968" cy="237744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2212848"/>
            <a:ext cx="4133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28600" y="2468880"/>
            <a:ext cx="4315968" cy="53035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8600" y="2468880"/>
            <a:ext cx="45720" cy="530352"/>
          </a:xfrm>
          <a:prstGeom prst="rect">
            <a:avLst/>
          </a:prstGeom>
          <a:solidFill>
            <a:srgbClr val="0F2D54">
              <a:alpha val="80000"/>
            </a:srgbClr>
          </a:solidFill>
          <a:ln w="12700">
            <a:solidFill>
              <a:srgbClr val="0F2D54">
                <a:alpha val="8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56616" y="2505456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194560" y="2523744"/>
            <a:ext cx="2212848" cy="164592"/>
          </a:xfrm>
          <a:prstGeom prst="rect">
            <a:avLst/>
          </a:prstGeom>
          <a:solidFill>
            <a:srgbClr val="0F2D54">
              <a:alpha val="12000"/>
            </a:srgbClr>
          </a:solidFill>
          <a:ln w="12700">
            <a:solidFill>
              <a:srgbClr val="0F2D54">
                <a:alpha val="45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12848" y="2523744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D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bar_altair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356616" y="2743200"/>
            <a:ext cx="4133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comparisons — top counterparties, regions or products by value.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28600" y="3017520"/>
            <a:ext cx="4315968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8600" y="3017520"/>
            <a:ext cx="45720" cy="530352"/>
          </a:xfrm>
          <a:prstGeom prst="rect">
            <a:avLst/>
          </a:prstGeom>
          <a:solidFill>
            <a:srgbClr val="0F2D54">
              <a:alpha val="80000"/>
            </a:srgbClr>
          </a:solidFill>
          <a:ln w="12700">
            <a:solidFill>
              <a:srgbClr val="0F2D54">
                <a:alpha val="80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6616" y="3054096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Bar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194560" y="3072384"/>
            <a:ext cx="2212848" cy="164592"/>
          </a:xfrm>
          <a:prstGeom prst="rect">
            <a:avLst/>
          </a:prstGeom>
          <a:solidFill>
            <a:srgbClr val="0F2D54">
              <a:alpha val="12000"/>
            </a:srgbClr>
          </a:solidFill>
          <a:ln w="12700">
            <a:solidFill>
              <a:srgbClr val="0F2D54">
                <a:alpha val="45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12848" y="3072384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D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grouped_bar_altair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356616" y="3291840"/>
            <a:ext cx="4133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Side-by-side groups — this period vs last period across categories.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28600" y="3566160"/>
            <a:ext cx="4315968" cy="53035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8600" y="3566160"/>
            <a:ext cx="45720" cy="530352"/>
          </a:xfrm>
          <a:prstGeom prst="rect">
            <a:avLst/>
          </a:prstGeom>
          <a:solidFill>
            <a:srgbClr val="0F2D54">
              <a:alpha val="80000"/>
            </a:srgbClr>
          </a:solidFill>
          <a:ln w="12700">
            <a:solidFill>
              <a:srgbClr val="0F2D54">
                <a:alpha val="8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6616" y="3602736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 Bar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194560" y="3621024"/>
            <a:ext cx="2212848" cy="164592"/>
          </a:xfrm>
          <a:prstGeom prst="rect">
            <a:avLst/>
          </a:prstGeom>
          <a:solidFill>
            <a:srgbClr val="0F2D54">
              <a:alpha val="12000"/>
            </a:srgbClr>
          </a:solidFill>
          <a:ln w="12700">
            <a:solidFill>
              <a:srgbClr val="0F2D54">
                <a:alpha val="45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12848" y="3621024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D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stacked_bar_altair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356616" y="3840480"/>
            <a:ext cx="4133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over time — revenue by product line per month.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228600" y="4169664"/>
            <a:ext cx="4315968" cy="23774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0040" y="4169664"/>
            <a:ext cx="4133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PART-TO-WHOLE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28600" y="4425696"/>
            <a:ext cx="4315968" cy="53035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28600" y="4425696"/>
            <a:ext cx="45720" cy="530352"/>
          </a:xfrm>
          <a:prstGeom prst="rect">
            <a:avLst/>
          </a:prstGeom>
          <a:solidFill>
            <a:srgbClr val="0891B2">
              <a:alpha val="80000"/>
            </a:srgbClr>
          </a:solidFill>
          <a:ln w="12700">
            <a:solidFill>
              <a:srgbClr val="0891B2">
                <a:alpha val="8000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56616" y="4462272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 / Pie / Donut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194560" y="4480560"/>
            <a:ext cx="2212848" cy="164592"/>
          </a:xfrm>
          <a:prstGeom prst="rect">
            <a:avLst/>
          </a:prstGeom>
          <a:solidFill>
            <a:srgbClr val="0891B2">
              <a:alpha val="12000"/>
            </a:srgbClr>
          </a:solidFill>
          <a:ln w="12700">
            <a:solidFill>
              <a:srgbClr val="0891B2">
                <a:alpha val="45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212848" y="44805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891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arc_altair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356616" y="4700016"/>
            <a:ext cx="4133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share, revenue mix, exposure concentration by entity.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228600" y="4974336"/>
            <a:ext cx="4315968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28600" y="4974336"/>
            <a:ext cx="45720" cy="530352"/>
          </a:xfrm>
          <a:prstGeom prst="rect">
            <a:avLst/>
          </a:prstGeom>
          <a:solidFill>
            <a:srgbClr val="0891B2">
              <a:alpha val="80000"/>
            </a:srgbClr>
          </a:solidFill>
          <a:ln w="12700">
            <a:solidFill>
              <a:srgbClr val="0891B2">
                <a:alpha val="8000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6616" y="5010912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194560" y="5029200"/>
            <a:ext cx="2212848" cy="164592"/>
          </a:xfrm>
          <a:prstGeom prst="rect">
            <a:avLst/>
          </a:prstGeom>
          <a:solidFill>
            <a:srgbClr val="0891B2">
              <a:alpha val="12000"/>
            </a:srgbClr>
          </a:solidFill>
          <a:ln w="12700">
            <a:solidFill>
              <a:srgbClr val="0891B2">
                <a:alpha val="4500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212848" y="502920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891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funnel_altair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356616" y="5248656"/>
            <a:ext cx="4133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pipelines — AML review stages, deal progression, issue resolution.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4663440" y="804672"/>
            <a:ext cx="4315968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54880" y="804672"/>
            <a:ext cx="4133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 &amp; DISTRIBUTIONS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4663440" y="1060704"/>
            <a:ext cx="4315968" cy="53035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0" y="1060704"/>
            <a:ext cx="45720" cy="530352"/>
          </a:xfrm>
          <a:prstGeom prst="rect">
            <a:avLst/>
          </a:prstGeom>
          <a:solidFill>
            <a:srgbClr val="0D9488">
              <a:alpha val="80000"/>
            </a:srgbClr>
          </a:solidFill>
          <a:ln w="12700">
            <a:solidFill>
              <a:srgbClr val="0D9488">
                <a:alpha val="8000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91456" y="1097280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Bubble Scatter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6629400" y="1115568"/>
            <a:ext cx="2212848" cy="164592"/>
          </a:xfrm>
          <a:prstGeom prst="rect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4500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647688" y="111556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scatter_altair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4791456" y="1335024"/>
            <a:ext cx="4133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Correlations with size encoding — risk vs return, cost vs revenue.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663440" y="1609344"/>
            <a:ext cx="4315968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663440" y="1609344"/>
            <a:ext cx="45720" cy="530352"/>
          </a:xfrm>
          <a:prstGeom prst="rect">
            <a:avLst/>
          </a:prstGeom>
          <a:solidFill>
            <a:srgbClr val="0D9488">
              <a:alpha val="80000"/>
            </a:srgbClr>
          </a:solidFill>
          <a:ln w="12700">
            <a:solidFill>
              <a:srgbClr val="0D9488">
                <a:alpha val="80000"/>
              </a:srgbClr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791456" y="1645920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6629400" y="1664208"/>
            <a:ext cx="2212848" cy="164592"/>
          </a:xfrm>
          <a:prstGeom prst="rect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45000"/>
              </a:srgbClr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647688" y="166420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heatmap_altair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4791456" y="1883664"/>
            <a:ext cx="4133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Two-dimensional intensity — counterparty × currency, data domain × metric.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663440" y="2157984"/>
            <a:ext cx="4315968" cy="53035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663440" y="2157984"/>
            <a:ext cx="45720" cy="530352"/>
          </a:xfrm>
          <a:prstGeom prst="rect">
            <a:avLst/>
          </a:prstGeom>
          <a:solidFill>
            <a:srgbClr val="0D9488">
              <a:alpha val="80000"/>
            </a:srgbClr>
          </a:solidFill>
          <a:ln w="12700">
            <a:solidFill>
              <a:srgbClr val="0D9488">
                <a:alpha val="80000"/>
              </a:srgbClr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791456" y="2194560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Plot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629400" y="2212848"/>
            <a:ext cx="2212848" cy="164592"/>
          </a:xfrm>
          <a:prstGeom prst="rect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45000"/>
              </a:srgbClr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647688" y="221284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strip_altair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4791456" y="2432304"/>
            <a:ext cx="4133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data points per category — spot outliers and distribution spread.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4663440" y="2706624"/>
            <a:ext cx="4315968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663440" y="2706624"/>
            <a:ext cx="45720" cy="530352"/>
          </a:xfrm>
          <a:prstGeom prst="rect">
            <a:avLst/>
          </a:prstGeom>
          <a:solidFill>
            <a:srgbClr val="0D9488">
              <a:alpha val="80000"/>
            </a:srgbClr>
          </a:solidFill>
          <a:ln w="12700">
            <a:solidFill>
              <a:srgbClr val="0D9488">
                <a:alpha val="80000"/>
              </a:srgbClr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791456" y="2743200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Plot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629400" y="2761488"/>
            <a:ext cx="2212848" cy="164592"/>
          </a:xfrm>
          <a:prstGeom prst="rect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45000"/>
              </a:srgbClr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647688" y="276148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boxplot_altair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4791456" y="2980944"/>
            <a:ext cx="4133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spread — median, quartiles, outliers for SLA or NPS data.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4663440" y="3310128"/>
            <a:ext cx="4315968" cy="23774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754880" y="3310128"/>
            <a:ext cx="4133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&amp; PERFORMANCE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663440" y="3566160"/>
            <a:ext cx="4315968" cy="53035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663440" y="3566160"/>
            <a:ext cx="45720" cy="530352"/>
          </a:xfrm>
          <a:prstGeom prst="rect">
            <a:avLst/>
          </a:prstGeom>
          <a:solidFill>
            <a:srgbClr val="D97706">
              <a:alpha val="80000"/>
            </a:srgbClr>
          </a:solidFill>
          <a:ln w="12700">
            <a:solidFill>
              <a:srgbClr val="D97706">
                <a:alpha val="80000"/>
              </a:srgbClr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791456" y="3602736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Card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6629400" y="3621024"/>
            <a:ext cx="2212848" cy="164592"/>
          </a:xfrm>
          <a:prstGeom prst="rect">
            <a:avLst/>
          </a:prstGeom>
          <a:solidFill>
            <a:srgbClr val="D97706">
              <a:alpha val="12000"/>
            </a:srgbClr>
          </a:solidFill>
          <a:ln w="12700">
            <a:solidFill>
              <a:srgbClr val="D97706">
                <a:alpha val="45000"/>
              </a:srgbClr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647688" y="3621024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metric_card</a:t>
            </a:r>
            <a:endParaRPr lang="en-US" sz="750" dirty="0"/>
          </a:p>
        </p:txBody>
      </p:sp>
      <p:sp>
        <p:nvSpPr>
          <p:cNvPr id="89" name="Text 87"/>
          <p:cNvSpPr/>
          <p:nvPr/>
        </p:nvSpPr>
        <p:spPr>
          <a:xfrm>
            <a:off x="4791456" y="3840480"/>
            <a:ext cx="4133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headline KPI — capital ratio, MoM change, breach count.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4663440" y="4114800"/>
            <a:ext cx="4315968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663440" y="4114800"/>
            <a:ext cx="45720" cy="530352"/>
          </a:xfrm>
          <a:prstGeom prst="rect">
            <a:avLst/>
          </a:prstGeom>
          <a:solidFill>
            <a:srgbClr val="D97706">
              <a:alpha val="80000"/>
            </a:srgbClr>
          </a:solidFill>
          <a:ln w="12700">
            <a:solidFill>
              <a:srgbClr val="D97706">
                <a:alpha val="80000"/>
              </a:srgbClr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791456" y="4151376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Chart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629400" y="4169664"/>
            <a:ext cx="2212848" cy="164592"/>
          </a:xfrm>
          <a:prstGeom prst="rect">
            <a:avLst/>
          </a:prstGeom>
          <a:solidFill>
            <a:srgbClr val="D97706">
              <a:alpha val="12000"/>
            </a:srgbClr>
          </a:solidFill>
          <a:ln w="12700">
            <a:solidFill>
              <a:srgbClr val="D97706">
                <a:alpha val="45000"/>
              </a:srgbClr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647688" y="4169664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bullet_altair</a:t>
            </a:r>
            <a:endParaRPr lang="en-US" sz="750" dirty="0"/>
          </a:p>
        </p:txBody>
      </p:sp>
      <p:sp>
        <p:nvSpPr>
          <p:cNvPr id="95" name="Text 93"/>
          <p:cNvSpPr/>
          <p:nvPr/>
        </p:nvSpPr>
        <p:spPr>
          <a:xfrm>
            <a:off x="4791456" y="4389120"/>
            <a:ext cx="4133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vs target vs tolerance band — limit utilisation, sales attainment.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4663440" y="4718304"/>
            <a:ext cx="4315968" cy="237744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754880" y="4718304"/>
            <a:ext cx="4133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VIEW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4663440" y="4974336"/>
            <a:ext cx="4315968" cy="53035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4663440" y="4974336"/>
            <a:ext cx="45720" cy="530352"/>
          </a:xfrm>
          <a:prstGeom prst="rect">
            <a:avLst/>
          </a:prstGeom>
          <a:solidFill>
            <a:srgbClr val="475569">
              <a:alpha val="80000"/>
            </a:srgbClr>
          </a:solidFill>
          <a:ln w="12700">
            <a:solidFill>
              <a:srgbClr val="475569">
                <a:alpha val="80000"/>
              </a:srgbClr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791456" y="5010912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Table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6629400" y="5029200"/>
            <a:ext cx="2212848" cy="164592"/>
          </a:xfrm>
          <a:prstGeom prst="rect">
            <a:avLst/>
          </a:prstGeom>
          <a:solidFill>
            <a:srgbClr val="475569">
              <a:alpha val="12000"/>
            </a:srgbClr>
          </a:solidFill>
          <a:ln w="12700">
            <a:solidFill>
              <a:srgbClr val="475569">
                <a:alpha val="45000"/>
              </a:srgbClr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47688" y="502920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table_chart</a:t>
            </a:r>
            <a:endParaRPr lang="en-US" sz="750" dirty="0"/>
          </a:p>
        </p:txBody>
      </p:sp>
      <p:sp>
        <p:nvSpPr>
          <p:cNvPr id="103" name="Text 101"/>
          <p:cNvSpPr/>
          <p:nvPr/>
        </p:nvSpPr>
        <p:spPr>
          <a:xfrm>
            <a:off x="4791456" y="5248656"/>
            <a:ext cx="4133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Formatted ranked grid — top accounts, trade breaks, case backlog.</a:t>
            </a:r>
            <a:endParaRPr lang="en-US" sz="850" dirty="0"/>
          </a:p>
        </p:txBody>
      </p:sp>
      <p:sp>
        <p:nvSpPr>
          <p:cNvPr id="104" name="Shape 102"/>
          <p:cNvSpPr/>
          <p:nvPr/>
        </p:nvSpPr>
        <p:spPr>
          <a:xfrm>
            <a:off x="4562856" y="804672"/>
            <a:ext cx="0" cy="402336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4754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 — Risk, Compliance and Data Governance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74320" y="47548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Chart-driven alerts and reports change how quickly decision-makers act on critical signals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  ·  Intelligent Chart-Driven Reporting  ·  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28600" y="804672"/>
            <a:ext cx="4224528" cy="19385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28600" y="804672"/>
            <a:ext cx="4224528" cy="329184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804672"/>
            <a:ext cx="4041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Risk Management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74904" y="1170432"/>
            <a:ext cx="3986784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trend line charts show daily risk direction — readers no longer calculate movement from raw tables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utilisation bullet charts flag breaches against thresholds at a glance, triggering faster escalation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Counterparty exposure heatmaps reveal concentration risk across currency × entity instantly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 scenario grouped bar charts compare multiple shock scenarios in one visual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81728" y="804672"/>
            <a:ext cx="4224528" cy="19385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81728" y="804672"/>
            <a:ext cx="4224528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91456" y="804672"/>
            <a:ext cx="4041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  Compliance &amp; Regulatory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28032" y="1170432"/>
            <a:ext cx="3986784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adequacy ratio trend lines (Basel III/IV) show direction and proximity to regulatory minimum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CCAR and DFAST scenario area charts make capital consumption visible across shock horizons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transaction review funnel charts expose stage drop-offs, enabling SLA breach prevention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Suspicious activity volume line charts with reference lines alert when volumes exceed control thresholds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28600" y="2880360"/>
            <a:ext cx="4224528" cy="19385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8600" y="2880360"/>
            <a:ext cx="4224528" cy="32918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328" y="2880360"/>
            <a:ext cx="4041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🗂  Data Governance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74904" y="3246120"/>
            <a:ext cx="3986784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score heatmaps (domain × dimension) make problem areas visible without scanning tables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SLA breach rate trend lines show whether data delivery is improving or deteriorating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aging grouped bar charts (open vs resolved) track governance backlog against clearance targets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 and accuracy KPI metric cards give data stewards a daily headline view of estate health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81728" y="2880360"/>
            <a:ext cx="4224528" cy="19385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81728" y="2880360"/>
            <a:ext cx="4224528" cy="32918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91456" y="2880360"/>
            <a:ext cx="4041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Operational Reporting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28032" y="3246120"/>
            <a:ext cx="3986784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P&amp;L stacked bar charts attribute performance across books — manual arithmetic eliminated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failure rate line charts with target reference lines signal processing degradation early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break count horizontal bar charts rank entities by break volume for prioritised action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End-of-day processing metric cards give operations managers instant pass/fail status at cycle close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4754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vs After — Reporting Scenarios in Banking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74320" y="47548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data, in two formats. One demands effort. The other delivers insight immediately.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  ·  Intelligent Chart-Driven Reporting  ·  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28600" y="804672"/>
            <a:ext cx="2880360" cy="310896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54680" y="804672"/>
            <a:ext cx="2724912" cy="31089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25312" y="804672"/>
            <a:ext cx="2990088" cy="31089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80467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Question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00400" y="804672"/>
            <a:ext cx="2633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— HTML Table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71032" y="804672"/>
            <a:ext cx="2898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— PyViz Chart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28600" y="1152144"/>
            <a:ext cx="86868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" y="1152144"/>
            <a:ext cx="54864" cy="594360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" y="119786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2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counterparty credit exposure within limits?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118104" y="1152144"/>
            <a:ext cx="0" cy="59436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82112" y="1207008"/>
            <a:ext cx="2633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Exposure table — 20 rows of numbers. Limit column beside it. Reader calculates headroom row by row.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870448" y="1152144"/>
            <a:ext cx="0" cy="59436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207008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heatmap_altair — colour intensity reveals breaches. Limit proximity visible across all counterparties at once.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28600" y="1783080"/>
            <a:ext cx="8686800" cy="5943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" y="1783080"/>
            <a:ext cx="54864" cy="5943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" y="1828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our capital ratio trending toward the regulatory minimum?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118104" y="1783080"/>
            <a:ext cx="0" cy="59436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82112" y="1837944"/>
            <a:ext cx="2633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 single ratio figure for today. No context, no direction, no comparison to prior periods.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870448" y="1783080"/>
            <a:ext cx="0" cy="59436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83794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line_altair with reference line — trend and proximity to Basel minimum visible in one chart.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28600" y="2414016"/>
            <a:ext cx="86868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" y="2414016"/>
            <a:ext cx="54864" cy="5943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7472" y="245973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data quality dimensions are failing this week?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118104" y="2414016"/>
            <a:ext cx="0" cy="59436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182112" y="2468880"/>
            <a:ext cx="2633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Audit table: domain × dimension grid with pass/fail counts. Reader must scan entire matrix.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870448" y="2414016"/>
            <a:ext cx="0" cy="59436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468880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heatmap_altair — red cells identify failing dimensions instantly across the full data estate.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28600" y="3044952"/>
            <a:ext cx="8686800" cy="5943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8600" y="3044952"/>
            <a:ext cx="54864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7472" y="309067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our AML review pipeline stalling?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118104" y="3044952"/>
            <a:ext cx="0" cy="59436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182112" y="3099816"/>
            <a:ext cx="2633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Four count fields: referred, under review, escalated, closed. Drop-off requires arithmetic.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870448" y="3044952"/>
            <a:ext cx="0" cy="59436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099816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funnel_altair — each stage narrows visually. The bottleneck stage is unmissable.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28600" y="3675888"/>
            <a:ext cx="86868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8600" y="3675888"/>
            <a:ext cx="54864" cy="59436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7472" y="37216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this month's P&amp;L compare to budget by book?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118104" y="3675888"/>
            <a:ext cx="0" cy="59436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182112" y="3730752"/>
            <a:ext cx="2633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Two columns per book — actual and budget. Delta calculation done mentally by reader.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70448" y="3675888"/>
            <a:ext cx="0" cy="59436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43600" y="3730752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grouped_bar_altair — actual sits beside budget per book. Variance is a visual gap, not arithmetic.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28600" y="4306824"/>
            <a:ext cx="8686800" cy="5943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8600" y="4306824"/>
            <a:ext cx="54864" cy="5943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7472" y="435254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settlement failure rate rising or falling?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118104" y="4306824"/>
            <a:ext cx="0" cy="59436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82112" y="4361688"/>
            <a:ext cx="2633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Daily failure count in a table. Reader must compare today to prior days to determine direction.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0448" y="4306824"/>
            <a:ext cx="0" cy="59436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943600" y="4361688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line_altair with target reference line — trend direction and threshold breach visible immediately.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4754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HTML Reporting vs PyViz — Key Differences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74320" y="47548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use the same BigQuery data source — PyViz adds the visual and automation layer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  ·  Intelligent Chart-Driven Reporting  ·  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28600" y="804672"/>
            <a:ext cx="2240280" cy="329184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80467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14600" y="804672"/>
            <a:ext cx="3090672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14600" y="804672"/>
            <a:ext cx="3090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HTML + SQL Email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650992" y="804672"/>
            <a:ext cx="3264408" cy="329184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50992" y="804672"/>
            <a:ext cx="3264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PyViz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28600" y="1188720"/>
            <a:ext cx="868680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" y="1188720"/>
            <a:ext cx="2240280" cy="987552"/>
          </a:xfrm>
          <a:prstGeom prst="rect">
            <a:avLst/>
          </a:prstGeom>
          <a:solidFill>
            <a:srgbClr val="1565C0">
              <a:alpha val="9000"/>
            </a:srgbClr>
          </a:solidFill>
          <a:ln w="12700">
            <a:solidFill>
              <a:srgbClr val="1565C0">
                <a:alpha val="4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" y="1188720"/>
            <a:ext cx="54864" cy="98755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7472" y="12618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47472" y="155448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numbers originate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478024" y="1188720"/>
            <a:ext cx="0" cy="987552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14416" y="1188720"/>
            <a:ext cx="0" cy="987552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78608" y="1280160"/>
            <a:ext cx="2962656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Analysts write SQL queries manually per report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Each query hard-coded to a specific table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Source changes require HTML template edits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shared configuration across reports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715000" y="1280160"/>
            <a:ext cx="3127248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Same BigQuery tables — zero migration needed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bq_table field in chart_config_view points to any table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Source change = update one field in config view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All reports share a single, unified configuration layer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28600" y="2221992"/>
            <a:ext cx="868680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" y="2221992"/>
            <a:ext cx="2240280" cy="987552"/>
          </a:xfrm>
          <a:prstGeom prst="rect">
            <a:avLst/>
          </a:prstGeom>
          <a:solidFill>
            <a:srgbClr val="DC2626">
              <a:alpha val="9000"/>
            </a:srgbClr>
          </a:solidFill>
          <a:ln w="12700">
            <a:solidFill>
              <a:srgbClr val="DC2626">
                <a:alpha val="4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8600" y="2221992"/>
            <a:ext cx="54864" cy="9875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472" y="22951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Rendering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47472" y="258775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visuals reach the reader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78024" y="2221992"/>
            <a:ext cx="0" cy="987552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14416" y="2221992"/>
            <a:ext cx="0" cy="987552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78608" y="2313432"/>
            <a:ext cx="2962656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Canvas, SVG and JavaScript blocked by Outlook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Chart.js, D3.js and Highcharts all fail silently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Screenshots pasted manually — data stale immediately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mechanism for freshly-rendered charts at send time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715000" y="2313432"/>
            <a:ext cx="3127248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Python renders charts server-side via Vega-Altair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Output is a base64 PNG inside a standard &lt;img&gt; tag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&lt;img&gt; tags render in every email client — no exceptions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Charts freshly generated on every scheduled engine run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28600" y="3255264"/>
            <a:ext cx="868680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600" y="3255264"/>
            <a:ext cx="2240280" cy="804672"/>
          </a:xfrm>
          <a:prstGeom prst="rect">
            <a:avLst/>
          </a:prstGeom>
          <a:solidFill>
            <a:srgbClr val="475569">
              <a:alpha val="9000"/>
            </a:srgbClr>
          </a:solidFill>
          <a:ln w="12700">
            <a:solidFill>
              <a:srgbClr val="475569">
                <a:alpha val="4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8600" y="3255264"/>
            <a:ext cx="54864" cy="80467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7472" y="33284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Mode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47472" y="362102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Theming per chart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2478024" y="3255264"/>
            <a:ext cx="0" cy="804672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614416" y="3255264"/>
            <a:ext cx="0" cy="804672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78608" y="3346704"/>
            <a:ext cx="29626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Not feasible — Outlook ignores CSS dark-mode queries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Maintaining two templates doubles maintenance effort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715000" y="3346704"/>
            <a:ext cx="3127248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dark_mode flag per chart row in chart_config_view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One config field flips all colours, background, grid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Different charts in the same email may have different themes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28600" y="4105656"/>
            <a:ext cx="868680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8600" y="4105656"/>
            <a:ext cx="2240280" cy="987552"/>
          </a:xfrm>
          <a:prstGeom prst="rect">
            <a:avLst/>
          </a:prstGeom>
          <a:solidFill>
            <a:srgbClr val="D97706">
              <a:alpha val="9000"/>
            </a:srgbClr>
          </a:solidFill>
          <a:ln w="12700">
            <a:solidFill>
              <a:srgbClr val="D97706">
                <a:alpha val="4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8600" y="4105656"/>
            <a:ext cx="54864" cy="9875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7472" y="4178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Error Tracking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347472" y="447141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 when issues occur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2478024" y="4105656"/>
            <a:ext cx="0" cy="987552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614416" y="4105656"/>
            <a:ext cx="0" cy="987552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78608" y="4197096"/>
            <a:ext cx="2962656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built-in logging — failures are silent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Wrong chart undetected until reader raises it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record of which emails succeeded or failed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Debugging requires manual re-execution and inspection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715000" y="4197096"/>
            <a:ext cx="3127248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email_output BigQuery table written after every run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status field: SUCCESS / WARN / FAILED per recipient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charts_injected vs total ratio reveals partial failures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Full timestamp audit trail — processed_at per recipient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4754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Summary — Invest Once, Extend Forever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74320" y="47548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setup unlocks permanent self-serve chart capability. Analysts add charts without developer involvement.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  ·  Intelligent Chart-Driven Reporting  ·  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28600" y="804672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Setup — Approximately 4 Working Days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28600" y="1133856"/>
            <a:ext cx="2212848" cy="274320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113385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487168" y="1133856"/>
            <a:ext cx="822960" cy="274320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87168" y="11338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64992" y="1133856"/>
            <a:ext cx="1115568" cy="274320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4992" y="1133856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28600" y="1444752"/>
            <a:ext cx="42976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444752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engine and BigQuery schema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487168" y="1444752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46704" y="1444752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Dev + DBA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28600" y="1783080"/>
            <a:ext cx="4297680" cy="329184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1783080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base HTML email template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487168" y="178308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day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346704" y="178308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28600" y="2121408"/>
            <a:ext cx="42976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2121408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chart_config_view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487168" y="2121408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day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346704" y="2121408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28600" y="2459736"/>
            <a:ext cx="4297680" cy="329184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2459736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service account and IAM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487168" y="2459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day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346704" y="2459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Admin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28600" y="2798064"/>
            <a:ext cx="42976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2798064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Scheduler setup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87168" y="2798064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day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346704" y="279806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28600" y="3136392"/>
            <a:ext cx="4297680" cy="329184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3136392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live report validation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487168" y="3136392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day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346704" y="3136392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Dev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28600" y="3474720"/>
            <a:ext cx="4297680" cy="329184"/>
          </a:xfrm>
          <a:prstGeom prst="rect">
            <a:avLst/>
          </a:prstGeom>
          <a:solidFill>
            <a:srgbClr val="0D9488">
              <a:alpha val="18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4320" y="3474720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estimated effort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2487168" y="3474720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days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709160" y="8046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Operations — Analyst Self-Serve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663440" y="1133856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663440" y="1133856"/>
            <a:ext cx="54864" cy="5669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73168" y="1207008"/>
            <a:ext cx="749808" cy="219456"/>
          </a:xfrm>
          <a:prstGeom prst="rect">
            <a:avLst/>
          </a:prstGeom>
          <a:solidFill>
            <a:srgbClr val="16A34A">
              <a:alpha val="20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73168" y="1207008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5596128" y="118872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new chart to existing report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96128" y="144475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SQL UNION ALL block. No Python.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4663440" y="1755648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663440" y="1755648"/>
            <a:ext cx="54864" cy="5669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773168" y="1828800"/>
            <a:ext cx="749808" cy="219456"/>
          </a:xfrm>
          <a:prstGeom prst="rect">
            <a:avLst/>
          </a:prstGeom>
          <a:solidFill>
            <a:srgbClr val="16A34A">
              <a:alpha val="20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73168" y="1828800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min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5596128" y="181051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new recipient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5596128" y="2066544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one row in email_list table.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4663440" y="2377440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4663440" y="2377440"/>
            <a:ext cx="54864" cy="5669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773168" y="2450592"/>
            <a:ext cx="749808" cy="219456"/>
          </a:xfrm>
          <a:prstGeom prst="rect">
            <a:avLst/>
          </a:prstGeom>
          <a:solidFill>
            <a:srgbClr val="16A34A">
              <a:alpha val="20000"/>
            </a:srgbClr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73168" y="2450592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min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5596128" y="2432304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chart title or colour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5596128" y="2688336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one field in chart_config_view.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663440" y="2999232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4663440" y="2999232"/>
            <a:ext cx="54864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773168" y="3072384"/>
            <a:ext cx="749808" cy="219456"/>
          </a:xfrm>
          <a:prstGeom prst="rect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773168" y="3072384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hrs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5596128" y="305409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entirely new report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5596128" y="3310128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html_template + chart config rows.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663440" y="3621024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68" name="Shape 66"/>
          <p:cNvSpPr/>
          <p:nvPr/>
        </p:nvSpPr>
        <p:spPr>
          <a:xfrm>
            <a:off x="4663440" y="3621024"/>
            <a:ext cx="54864" cy="5669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773168" y="3694176"/>
            <a:ext cx="749808" cy="219456"/>
          </a:xfrm>
          <a:prstGeom prst="rect">
            <a:avLst/>
          </a:prstGeom>
          <a:solidFill>
            <a:srgbClr val="D97706">
              <a:alpha val="20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773168" y="3694176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~0.5 day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5596128" y="367588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new chart type (e.g. gauge)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5596128" y="393192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renderer function — one-off effort.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663440" y="4242816"/>
            <a:ext cx="4251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0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4663440" y="4242816"/>
            <a:ext cx="54864" cy="56692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773168" y="4315968"/>
            <a:ext cx="749808" cy="219456"/>
          </a:xfrm>
          <a:prstGeom prst="rect">
            <a:avLst/>
          </a:prstGeom>
          <a:solidFill>
            <a:srgbClr val="1565C0">
              <a:alpha val="20000"/>
            </a:srgbClr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773168" y="4315968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min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5596128" y="429768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automated run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596128" y="45537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Scheduler executes on cadence.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228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at a Glance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28600" y="749808"/>
            <a:ext cx="1920240" cy="1234440"/>
          </a:xfrm>
          <a:prstGeom prst="rect">
            <a:avLst/>
          </a:prstGeom>
          <a:solidFill>
            <a:srgbClr val="FFFFFF">
              <a:alpha val="7000"/>
            </a:srgbClr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749808"/>
            <a:ext cx="1920240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88696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28600" y="1554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changes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28600" y="18013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add any new chart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331720" y="749808"/>
            <a:ext cx="1920240" cy="1234440"/>
          </a:xfrm>
          <a:prstGeom prst="rect">
            <a:avLst/>
          </a:prstGeom>
          <a:solidFill>
            <a:srgbClr val="FFFFFF">
              <a:alpha val="7000"/>
            </a:srgbClr>
          </a:solidFill>
          <a:ln w="1524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31720" y="749808"/>
            <a:ext cx="1920240" cy="1097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88696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331720" y="1554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effort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331720" y="18013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new chart — SQL only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28600" y="2121408"/>
            <a:ext cx="1920240" cy="1234440"/>
          </a:xfrm>
          <a:prstGeom prst="rect">
            <a:avLst/>
          </a:prstGeom>
          <a:solidFill>
            <a:srgbClr val="FFFFFF">
              <a:alpha val="7000"/>
            </a:srgbClr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" y="2121408"/>
            <a:ext cx="1920240" cy="109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8600" y="225856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228600" y="2926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types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28600" y="31729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and available today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331720" y="2121408"/>
            <a:ext cx="1920240" cy="1234440"/>
          </a:xfrm>
          <a:prstGeom prst="rect">
            <a:avLst/>
          </a:prstGeom>
          <a:solidFill>
            <a:srgbClr val="FFFFFF">
              <a:alpha val="7000"/>
            </a:srgbClr>
          </a:solidFill>
          <a:ln w="15240">
            <a:solidFill>
              <a:srgbClr val="16A3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31720" y="2121408"/>
            <a:ext cx="1920240" cy="10972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31720" y="225856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days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2331720" y="2926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setup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331720" y="31729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to production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28600" y="3493008"/>
            <a:ext cx="1920240" cy="1234440"/>
          </a:xfrm>
          <a:prstGeom prst="rect">
            <a:avLst/>
          </a:prstGeom>
          <a:solidFill>
            <a:srgbClr val="FFFFFF">
              <a:alpha val="7000"/>
            </a:srgbClr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8600" y="3493008"/>
            <a:ext cx="1920240" cy="1097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8600" y="363016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run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228600" y="4297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personalised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28600" y="4544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emails — one execution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2331720" y="3493008"/>
            <a:ext cx="1920240" cy="1234440"/>
          </a:xfrm>
          <a:prstGeom prst="rect">
            <a:avLst/>
          </a:prstGeom>
          <a:solidFill>
            <a:srgbClr val="FFFFFF">
              <a:alpha val="7000"/>
            </a:srgbClr>
          </a:solidFill>
          <a:ln w="15240">
            <a:solidFill>
              <a:srgbClr val="A78BF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31720" y="3493008"/>
            <a:ext cx="1920240" cy="1097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31720" y="363016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000" dirty="0"/>
          </a:p>
        </p:txBody>
      </p:sp>
      <p:sp>
        <p:nvSpPr>
          <p:cNvPr id="34" name="Text 32"/>
          <p:cNvSpPr/>
          <p:nvPr/>
        </p:nvSpPr>
        <p:spPr>
          <a:xfrm>
            <a:off x="2331720" y="4297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 safe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2331720" y="4544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base64 PNG in every client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754880" y="22860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754880" y="749808"/>
            <a:ext cx="237744" cy="237744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7498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074920" y="658368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 blocks canvas, SVG and JavaScript — pie charts, trend lines and heatmaps are not possible in standard HTML email.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754880" y="1408176"/>
            <a:ext cx="237744" cy="237744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14081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074920" y="1316736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 renders charts server-side and injects base64 PNG &lt;img&gt; tags, which every email client supports.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754880" y="2066544"/>
            <a:ext cx="237744" cy="237744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20665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5074920" y="1975104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chart takes 15 minutes of SQL — one config row and one template token. No Python required.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754880" y="2724912"/>
            <a:ext cx="237744" cy="237744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754880" y="27249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074920" y="2633472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such as {this_month} and {email_id} personalise every chart for every recipient from a single config.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754880" y="3346704"/>
            <a:ext cx="416052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54880" y="340156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Next Steps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754880" y="3730752"/>
            <a:ext cx="182880" cy="18288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54880" y="373075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5010912" y="3730752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BigQuery dataset access and GCP service account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754880" y="3950208"/>
            <a:ext cx="182880" cy="1828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754880" y="395020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5010912" y="3950208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schema SQL to create email_list, chart_config_view, email_output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754880" y="4169664"/>
            <a:ext cx="182880" cy="1828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54880" y="416966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5010912" y="4169664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with one existing report — replace one HTML table with a chart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754880" y="4389120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54880" y="43891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5010912" y="4389120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generated output, validate all recipients, sign off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4754880" y="4608576"/>
            <a:ext cx="182880" cy="182880"/>
          </a:xfrm>
          <a:prstGeom prst="ellipse">
            <a:avLst/>
          </a:prstGeom>
          <a:solidFill>
            <a:srgbClr val="0F2D54"/>
          </a:solidFill>
          <a:ln w="12700">
            <a:solidFill>
              <a:srgbClr val="0F2D5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754880" y="460857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5010912" y="4608576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via Cloud Scheduler — fully automated from this point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A1A2E"/>
          </a:solidFill>
          <a:ln w="12700">
            <a:solidFill>
              <a:srgbClr val="0A1A2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PyViz  ·  Intelligent Chart-Driven Reporting  ·  Confidential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PyViz — Intelligent Chart-Driven Reporting</dc:title>
  <dc:subject>PptxGenJS Presentation</dc:subject>
  <dc:creator>PyViz Team</dc:creator>
  <cp:lastModifiedBy>PyViz Team</cp:lastModifiedBy>
  <cp:revision>1</cp:revision>
  <dcterms:created xsi:type="dcterms:W3CDTF">2026-05-11T03:13:32Z</dcterms:created>
  <dcterms:modified xsi:type="dcterms:W3CDTF">2026-05-11T03:13:32Z</dcterms:modified>
</cp:coreProperties>
</file>