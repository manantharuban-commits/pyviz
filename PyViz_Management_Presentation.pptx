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F2D54"/>
          </a:solidFill>
          <a:ln w="12700">
            <a:solidFill>
              <a:srgbClr val="0F2D54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82880" cy="5143500"/>
          </a:xfrm>
          <a:prstGeom prst="rect">
            <a:avLst/>
          </a:prstGeom>
          <a:solidFill>
            <a:srgbClr val="0891B2"/>
          </a:solidFill>
          <a:ln w="12700">
            <a:solidFill>
              <a:srgbClr val="0891B2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217920" y="0"/>
            <a:ext cx="2926080" cy="5143500"/>
          </a:xfrm>
          <a:prstGeom prst="rect">
            <a:avLst/>
          </a:prstGeom>
          <a:solidFill>
            <a:srgbClr val="0D1F3C"/>
          </a:solidFill>
          <a:ln w="12700">
            <a:solidFill>
              <a:srgbClr val="0D1F3C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583680" y="731520"/>
            <a:ext cx="82296" cy="82296"/>
          </a:xfrm>
          <a:prstGeom prst="ellipse">
            <a:avLst/>
          </a:prstGeom>
          <a:solidFill>
            <a:srgbClr val="0891B2">
              <a:alpha val="45000"/>
            </a:srgbClr>
          </a:solidFill>
          <a:ln w="12700">
            <a:solidFill>
              <a:srgbClr val="0891B2">
                <a:alpha val="45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086600" y="731520"/>
            <a:ext cx="82296" cy="82296"/>
          </a:xfrm>
          <a:prstGeom prst="ellipse">
            <a:avLst/>
          </a:prstGeom>
          <a:solidFill>
            <a:srgbClr val="0891B2">
              <a:alpha val="45000"/>
            </a:srgbClr>
          </a:solidFill>
          <a:ln w="12700">
            <a:solidFill>
              <a:srgbClr val="0891B2">
                <a:alpha val="45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589520" y="731520"/>
            <a:ext cx="82296" cy="82296"/>
          </a:xfrm>
          <a:prstGeom prst="ellipse">
            <a:avLst/>
          </a:prstGeom>
          <a:solidFill>
            <a:srgbClr val="0891B2">
              <a:alpha val="45000"/>
            </a:srgbClr>
          </a:solidFill>
          <a:ln w="12700">
            <a:solidFill>
              <a:srgbClr val="0891B2">
                <a:alpha val="45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583680" y="1234440"/>
            <a:ext cx="82296" cy="82296"/>
          </a:xfrm>
          <a:prstGeom prst="ellipse">
            <a:avLst/>
          </a:prstGeom>
          <a:solidFill>
            <a:srgbClr val="0891B2">
              <a:alpha val="45000"/>
            </a:srgbClr>
          </a:solidFill>
          <a:ln w="12700">
            <a:solidFill>
              <a:srgbClr val="0891B2">
                <a:alpha val="45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7086600" y="1234440"/>
            <a:ext cx="82296" cy="82296"/>
          </a:xfrm>
          <a:prstGeom prst="ellipse">
            <a:avLst/>
          </a:prstGeom>
          <a:solidFill>
            <a:srgbClr val="0891B2">
              <a:alpha val="45000"/>
            </a:srgbClr>
          </a:solidFill>
          <a:ln w="12700">
            <a:solidFill>
              <a:srgbClr val="0891B2">
                <a:alpha val="45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589520" y="1234440"/>
            <a:ext cx="82296" cy="82296"/>
          </a:xfrm>
          <a:prstGeom prst="ellipse">
            <a:avLst/>
          </a:prstGeom>
          <a:solidFill>
            <a:srgbClr val="0891B2">
              <a:alpha val="45000"/>
            </a:srgbClr>
          </a:solidFill>
          <a:ln w="12700">
            <a:solidFill>
              <a:srgbClr val="0891B2">
                <a:alpha val="45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583680" y="1737360"/>
            <a:ext cx="82296" cy="82296"/>
          </a:xfrm>
          <a:prstGeom prst="ellipse">
            <a:avLst/>
          </a:prstGeom>
          <a:solidFill>
            <a:srgbClr val="0891B2">
              <a:alpha val="45000"/>
            </a:srgbClr>
          </a:solidFill>
          <a:ln w="12700">
            <a:solidFill>
              <a:srgbClr val="0891B2">
                <a:alpha val="45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086600" y="1737360"/>
            <a:ext cx="82296" cy="82296"/>
          </a:xfrm>
          <a:prstGeom prst="ellipse">
            <a:avLst/>
          </a:prstGeom>
          <a:solidFill>
            <a:srgbClr val="0891B2">
              <a:alpha val="45000"/>
            </a:srgbClr>
          </a:solidFill>
          <a:ln w="12700">
            <a:solidFill>
              <a:srgbClr val="0891B2">
                <a:alpha val="4500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589520" y="1737360"/>
            <a:ext cx="82296" cy="82296"/>
          </a:xfrm>
          <a:prstGeom prst="ellipse">
            <a:avLst/>
          </a:prstGeom>
          <a:solidFill>
            <a:srgbClr val="0891B2">
              <a:alpha val="45000"/>
            </a:srgbClr>
          </a:solidFill>
          <a:ln w="12700">
            <a:solidFill>
              <a:srgbClr val="0891B2">
                <a:alpha val="4500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583680" y="2240280"/>
            <a:ext cx="82296" cy="82296"/>
          </a:xfrm>
          <a:prstGeom prst="ellipse">
            <a:avLst/>
          </a:prstGeom>
          <a:solidFill>
            <a:srgbClr val="0891B2">
              <a:alpha val="45000"/>
            </a:srgbClr>
          </a:solidFill>
          <a:ln w="12700">
            <a:solidFill>
              <a:srgbClr val="0891B2">
                <a:alpha val="4500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086600" y="2240280"/>
            <a:ext cx="82296" cy="82296"/>
          </a:xfrm>
          <a:prstGeom prst="ellipse">
            <a:avLst/>
          </a:prstGeom>
          <a:solidFill>
            <a:srgbClr val="0891B2">
              <a:alpha val="45000"/>
            </a:srgbClr>
          </a:solidFill>
          <a:ln w="12700">
            <a:solidFill>
              <a:srgbClr val="0891B2">
                <a:alpha val="4500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589520" y="2240280"/>
            <a:ext cx="82296" cy="82296"/>
          </a:xfrm>
          <a:prstGeom prst="ellipse">
            <a:avLst/>
          </a:prstGeom>
          <a:solidFill>
            <a:srgbClr val="0891B2">
              <a:alpha val="45000"/>
            </a:srgbClr>
          </a:solidFill>
          <a:ln w="12700">
            <a:solidFill>
              <a:srgbClr val="0891B2">
                <a:alpha val="45000"/>
              </a:srgbClr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7200" y="685800"/>
            <a:ext cx="6400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600" b="1" dirty="0">
                <a:solidFill>
                  <a:srgbClr val="0891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PyViz</a:t>
            </a:r>
            <a:endParaRPr lang="en-US" sz="5600" dirty="0"/>
          </a:p>
        </p:txBody>
      </p:sp>
      <p:sp>
        <p:nvSpPr>
          <p:cNvPr id="18" name="Text 16"/>
          <p:cNvSpPr/>
          <p:nvPr/>
        </p:nvSpPr>
        <p:spPr>
          <a:xfrm>
            <a:off x="457200" y="1463040"/>
            <a:ext cx="6858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Outlook HTML Reports Need This</a:t>
            </a:r>
            <a:endParaRPr lang="en-US" sz="2200" dirty="0"/>
          </a:p>
        </p:txBody>
      </p:sp>
      <p:sp>
        <p:nvSpPr>
          <p:cNvPr id="19" name="Shape 17"/>
          <p:cNvSpPr/>
          <p:nvPr/>
        </p:nvSpPr>
        <p:spPr>
          <a:xfrm>
            <a:off x="457200" y="2029968"/>
            <a:ext cx="5303520" cy="0"/>
          </a:xfrm>
          <a:prstGeom prst="line">
            <a:avLst/>
          </a:prstGeom>
          <a:noFill/>
          <a:ln w="22860">
            <a:solidFill>
              <a:srgbClr val="0891B2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57200" y="2121408"/>
            <a:ext cx="6858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891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Pie charts. Line charts. Heatmaps. Funnels.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None of them work in Outlook HTML email — until now.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57200" y="4663440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Senior Management  ·  May 2026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1F5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02920"/>
          </a:xfrm>
          <a:prstGeom prst="rect">
            <a:avLst/>
          </a:prstGeom>
          <a:solidFill>
            <a:srgbClr val="0F2D54"/>
          </a:solidFill>
          <a:ln w="12700">
            <a:solidFill>
              <a:srgbClr val="0F2D54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82880" cy="502920"/>
          </a:xfrm>
          <a:prstGeom prst="rect">
            <a:avLst/>
          </a:prstGeom>
          <a:solidFill>
            <a:srgbClr val="0891B2"/>
          </a:solidFill>
          <a:ln w="12700">
            <a:solidFill>
              <a:srgbClr val="0891B2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20040" y="0"/>
            <a:ext cx="8503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Problem — Outlook Blocks Every Chart Library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320040" y="502920"/>
            <a:ext cx="8503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current HTML+SQL email cannot render visual charts — here is why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0" y="4892040"/>
            <a:ext cx="9144000" cy="256032"/>
          </a:xfrm>
          <a:prstGeom prst="rect">
            <a:avLst/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0" y="4892040"/>
            <a:ext cx="9144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PyViz  ·  Chart Email Engine  ·  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274320" y="841248"/>
            <a:ext cx="4206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9A34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Outlook Strips or Ignores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274320" y="1234440"/>
            <a:ext cx="4160520" cy="502920"/>
          </a:xfrm>
          <a:prstGeom prst="rect">
            <a:avLst/>
          </a:prstGeom>
          <a:solidFill>
            <a:srgbClr val="FFFFFF"/>
          </a:solidFill>
          <a:ln w="9525">
            <a:solidFill>
              <a:srgbClr val="FCA5A5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1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274320" y="1234440"/>
            <a:ext cx="64008" cy="502920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1271016"/>
            <a:ext cx="3840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C262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✗  &lt;canvas&gt; tag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457200" y="1490472"/>
            <a:ext cx="3840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Outlook renders in Word engine — no canvas support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274320" y="1801368"/>
            <a:ext cx="4160520" cy="502920"/>
          </a:xfrm>
          <a:prstGeom prst="rect">
            <a:avLst/>
          </a:prstGeom>
          <a:solidFill>
            <a:srgbClr val="FFFFFF"/>
          </a:solidFill>
          <a:ln w="9525">
            <a:solidFill>
              <a:srgbClr val="FCA5A5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1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274320" y="1801368"/>
            <a:ext cx="64008" cy="502920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200" y="1837944"/>
            <a:ext cx="3840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C262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✗  SVG inline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57200" y="2057400"/>
            <a:ext cx="3840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Most Outlook versions strip &lt;svg&gt; completely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274320" y="2368296"/>
            <a:ext cx="4160520" cy="502920"/>
          </a:xfrm>
          <a:prstGeom prst="rect">
            <a:avLst/>
          </a:prstGeom>
          <a:solidFill>
            <a:srgbClr val="FFFFFF"/>
          </a:solidFill>
          <a:ln w="9525">
            <a:solidFill>
              <a:srgbClr val="FCA5A5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1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274320" y="2368296"/>
            <a:ext cx="64008" cy="502920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7200" y="2404872"/>
            <a:ext cx="3840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C262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✗  JavaScript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457200" y="2624328"/>
            <a:ext cx="3840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JS blocked — Chart.js, D3.js, Highcharts all dead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274320" y="2935224"/>
            <a:ext cx="4160520" cy="502920"/>
          </a:xfrm>
          <a:prstGeom prst="rect">
            <a:avLst/>
          </a:prstGeom>
          <a:solidFill>
            <a:srgbClr val="FFFFFF"/>
          </a:solidFill>
          <a:ln w="9525">
            <a:solidFill>
              <a:srgbClr val="FCA5A5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1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274320" y="2935224"/>
            <a:ext cx="64008" cy="502920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57200" y="2971800"/>
            <a:ext cx="3840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C262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✗  CSS animations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457200" y="3191256"/>
            <a:ext cx="3840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Stripped — no animated charts or transitions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274320" y="3502152"/>
            <a:ext cx="4160520" cy="502920"/>
          </a:xfrm>
          <a:prstGeom prst="rect">
            <a:avLst/>
          </a:prstGeom>
          <a:solidFill>
            <a:srgbClr val="FFFFFF"/>
          </a:solidFill>
          <a:ln w="9525">
            <a:solidFill>
              <a:srgbClr val="FCA5A5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1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274320" y="3502152"/>
            <a:ext cx="64008" cy="502920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457200" y="3538728"/>
            <a:ext cx="3840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C262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✗  @font-face / web fonts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457200" y="3758184"/>
            <a:ext cx="3840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Substituted — chart text looks broken</a:t>
            </a:r>
            <a:endParaRPr lang="en-US" sz="900" dirty="0"/>
          </a:p>
        </p:txBody>
      </p:sp>
      <p:sp>
        <p:nvSpPr>
          <p:cNvPr id="29" name="Shape 27"/>
          <p:cNvSpPr/>
          <p:nvPr/>
        </p:nvSpPr>
        <p:spPr>
          <a:xfrm>
            <a:off x="274320" y="4069080"/>
            <a:ext cx="4160520" cy="502920"/>
          </a:xfrm>
          <a:prstGeom prst="rect">
            <a:avLst/>
          </a:prstGeom>
          <a:solidFill>
            <a:srgbClr val="FFFFFF"/>
          </a:solidFill>
          <a:ln w="9525">
            <a:solidFill>
              <a:srgbClr val="FCA5A5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1000"/>
              </a:srgbClr>
            </a:outerShdw>
          </a:effectLst>
        </p:spPr>
      </p:sp>
      <p:sp>
        <p:nvSpPr>
          <p:cNvPr id="30" name="Shape 28"/>
          <p:cNvSpPr/>
          <p:nvPr/>
        </p:nvSpPr>
        <p:spPr>
          <a:xfrm>
            <a:off x="274320" y="4069080"/>
            <a:ext cx="64008" cy="502920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457200" y="4105656"/>
            <a:ext cx="3840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C262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✗  Flexbox / Grid CSS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457200" y="4325112"/>
            <a:ext cx="3840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Ignored — layouts collapse or misalign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4663440" y="841248"/>
            <a:ext cx="4206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F2D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Current HTML Email = Tables Only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4617720" y="1234440"/>
            <a:ext cx="4251960" cy="3429000"/>
          </a:xfrm>
          <a:prstGeom prst="rect">
            <a:avLst/>
          </a:prstGeom>
          <a:solidFill>
            <a:srgbClr val="FFF7ED"/>
          </a:solidFill>
          <a:ln w="9525">
            <a:solidFill>
              <a:srgbClr val="FCD34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1000"/>
              </a:srgbClr>
            </a:outerShdw>
          </a:effectLst>
        </p:spPr>
      </p:sp>
      <p:sp>
        <p:nvSpPr>
          <p:cNvPr id="35" name="Text 33"/>
          <p:cNvSpPr/>
          <p:nvPr/>
        </p:nvSpPr>
        <p:spPr>
          <a:xfrm>
            <a:off x="4754880" y="1325880"/>
            <a:ext cx="3977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9A34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Without PyViz, your HTML email reports are limited to: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4754880" y="1664208"/>
            <a:ext cx="4023360" cy="2834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HTML tables with raw numbers</a:t>
            </a:r>
            <a:endParaRPr lang="en-US" sz="1050" dirty="0"/>
          </a:p>
          <a:p>
            <a:pPr marL="342900" indent="-342900">
              <a:buSzPct val="100000"/>
              <a:buChar char="•"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Bold / colour-coded cells at best</a:t>
            </a:r>
            <a:endParaRPr lang="en-US" sz="1050" dirty="0"/>
          </a:p>
          <a:p>
            <a:pPr marL="342900" indent="-342900">
              <a:buSzPct val="100000"/>
              <a:buChar char="•"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Static text summaries</a:t>
            </a:r>
            <a:endParaRPr lang="en-US" sz="1050" dirty="0"/>
          </a:p>
          <a:p>
            <a:pPr marL="342900" indent="-342900">
              <a:buSzPct val="100000"/>
              <a:buChar char="•"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Manually pasted screenshot images (stale)</a:t>
            </a:r>
            <a:endParaRPr lang="en-US" sz="1050" dirty="0"/>
          </a:p>
          <a:p>
            <a:pPr marL="342900" indent="-342900">
              <a:buSzPct val="100000"/>
              <a:buChar char="•"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trendlines, no proportions, no distributions</a:t>
            </a:r>
            <a:endParaRPr lang="en-US" sz="1050" dirty="0"/>
          </a:p>
          <a:p>
            <a:pPr marL="342900" indent="-342900">
              <a:buSzPct val="100000"/>
              <a:buChar char="•"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Reader must interpret numbers — no visual story</a:t>
            </a:r>
            <a:endParaRPr lang="en-US" sz="1050" dirty="0"/>
          </a:p>
          <a:p>
            <a:pPr marL="342900" indent="-342900">
              <a:buSzPct val="100000"/>
              <a:buChar char="•"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Zero personalisation per recipient</a:t>
            </a:r>
            <a:endParaRPr lang="en-US" sz="1050" dirty="0"/>
          </a:p>
        </p:txBody>
      </p:sp>
      <p:sp>
        <p:nvSpPr>
          <p:cNvPr id="37" name="Text 35"/>
          <p:cNvSpPr/>
          <p:nvPr/>
        </p:nvSpPr>
        <p:spPr>
          <a:xfrm>
            <a:off x="4663440" y="4526280"/>
            <a:ext cx="4251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Result: Reports are data dumps, not insights.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02920"/>
          </a:xfrm>
          <a:prstGeom prst="rect">
            <a:avLst/>
          </a:prstGeom>
          <a:solidFill>
            <a:srgbClr val="0F2D54"/>
          </a:solidFill>
          <a:ln w="12700">
            <a:solidFill>
              <a:srgbClr val="0F2D54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82880" cy="502920"/>
          </a:xfrm>
          <a:prstGeom prst="rect">
            <a:avLst/>
          </a:prstGeom>
          <a:solidFill>
            <a:srgbClr val="0891B2"/>
          </a:solidFill>
          <a:ln w="12700">
            <a:solidFill>
              <a:srgbClr val="0891B2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20040" y="0"/>
            <a:ext cx="8503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PyViz Solves It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320040" y="502920"/>
            <a:ext cx="8503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PyViz renders charts server-side and replaces a template variable with a plain image tag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0" y="4892040"/>
            <a:ext cx="9144000" cy="256032"/>
          </a:xfrm>
          <a:prstGeom prst="rect">
            <a:avLst/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0" y="4892040"/>
            <a:ext cx="9144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PyViz  ·  Chart Email Engine  ·  Confidential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457200" y="804672"/>
            <a:ext cx="2468880" cy="141732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1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457200" y="804672"/>
            <a:ext cx="2468880" cy="411480"/>
          </a:xfrm>
          <a:prstGeom prst="rect">
            <a:avLst/>
          </a:prstGeom>
          <a:solidFill>
            <a:srgbClr val="0F2D54"/>
          </a:solidFill>
          <a:ln w="12700">
            <a:solidFill>
              <a:srgbClr val="0F2D54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48640" y="804672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Data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566928" y="1280160"/>
            <a:ext cx="2249424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Any BigQuery table or view.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changes needed.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2971800" y="1307592"/>
            <a:ext cx="365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891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200" dirty="0"/>
          </a:p>
        </p:txBody>
      </p:sp>
      <p:sp>
        <p:nvSpPr>
          <p:cNvPr id="13" name="Shape 11"/>
          <p:cNvSpPr/>
          <p:nvPr/>
        </p:nvSpPr>
        <p:spPr>
          <a:xfrm>
            <a:off x="3337560" y="804672"/>
            <a:ext cx="2468880" cy="141732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1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3337560" y="804672"/>
            <a:ext cx="2468880" cy="41148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429000" y="804672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PyViz Engine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3447288" y="1280160"/>
            <a:ext cx="2249424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 reads data.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Renders chart as PNG.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5852160" y="1307592"/>
            <a:ext cx="365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891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200" dirty="0"/>
          </a:p>
        </p:txBody>
      </p:sp>
      <p:sp>
        <p:nvSpPr>
          <p:cNvPr id="18" name="Shape 16"/>
          <p:cNvSpPr/>
          <p:nvPr/>
        </p:nvSpPr>
        <p:spPr>
          <a:xfrm>
            <a:off x="6217920" y="804672"/>
            <a:ext cx="2468880" cy="141732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1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6217920" y="804672"/>
            <a:ext cx="2468880" cy="411480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309360" y="804672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HTML Email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6327648" y="1280160"/>
            <a:ext cx="2249424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Chart appears as image.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Works in every email client.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457200" y="239572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F2D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Mechanism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457200" y="2743200"/>
            <a:ext cx="3749040" cy="1627632"/>
          </a:xfrm>
          <a:prstGeom prst="rect">
            <a:avLst/>
          </a:prstGeom>
          <a:solidFill>
            <a:srgbClr val="EFF6FF"/>
          </a:solidFill>
          <a:ln w="9525">
            <a:solidFill>
              <a:srgbClr val="93C5F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1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457200" y="2743200"/>
            <a:ext cx="3749040" cy="274320"/>
          </a:xfrm>
          <a:prstGeom prst="rect">
            <a:avLst/>
          </a:prstGeom>
          <a:solidFill>
            <a:srgbClr val="1565C0"/>
          </a:solidFill>
          <a:ln w="12700">
            <a:solidFill>
              <a:srgbClr val="1565C0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548640" y="2743200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html_template in email_list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566928" y="3054096"/>
            <a:ext cx="3520440" cy="12618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0F2D5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&lt;h2&gt;Monthly Sales Report&lt;/h2&gt;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0F2D5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&lt;p&gt;Summary text here...&lt;/p&gt;</a:t>
            </a:r>
            <a:endParaRPr lang="en-US" sz="950" dirty="0"/>
          </a:p>
          <a:p>
            <a:pPr indent="0" marL="0">
              <a:buNone/>
            </a:pP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0F2D5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{{SALES_CHART}}</a:t>
            </a:r>
            <a:endParaRPr lang="en-US" sz="950" dirty="0"/>
          </a:p>
          <a:p>
            <a:pPr indent="0" marL="0">
              <a:buNone/>
            </a:pP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0F2D5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&lt;p&gt;More content...&lt;/p&gt;</a:t>
            </a:r>
            <a:endParaRPr lang="en-US" sz="950" dirty="0"/>
          </a:p>
        </p:txBody>
      </p:sp>
      <p:sp>
        <p:nvSpPr>
          <p:cNvPr id="27" name="Shape 25"/>
          <p:cNvSpPr/>
          <p:nvPr/>
        </p:nvSpPr>
        <p:spPr>
          <a:xfrm>
            <a:off x="566928" y="3401568"/>
            <a:ext cx="1444752" cy="201168"/>
          </a:xfrm>
          <a:prstGeom prst="rect">
            <a:avLst/>
          </a:prstGeom>
          <a:solidFill>
            <a:srgbClr val="D97706">
              <a:alpha val="80000"/>
            </a:srgbClr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576072" y="3401568"/>
            <a:ext cx="142646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9770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{{SALES_CHART}}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4297680" y="338328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600" dirty="0"/>
          </a:p>
        </p:txBody>
      </p:sp>
      <p:sp>
        <p:nvSpPr>
          <p:cNvPr id="30" name="Text 28"/>
          <p:cNvSpPr/>
          <p:nvPr/>
        </p:nvSpPr>
        <p:spPr>
          <a:xfrm>
            <a:off x="4251960" y="3749040"/>
            <a:ext cx="640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Engine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runs</a:t>
            </a:r>
            <a:endParaRPr lang="en-US" sz="800" dirty="0"/>
          </a:p>
        </p:txBody>
      </p:sp>
      <p:sp>
        <p:nvSpPr>
          <p:cNvPr id="31" name="Shape 29"/>
          <p:cNvSpPr/>
          <p:nvPr/>
        </p:nvSpPr>
        <p:spPr>
          <a:xfrm>
            <a:off x="4937760" y="2743200"/>
            <a:ext cx="3931920" cy="1627632"/>
          </a:xfrm>
          <a:prstGeom prst="rect">
            <a:avLst/>
          </a:prstGeom>
          <a:solidFill>
            <a:srgbClr val="F0FDF4"/>
          </a:solidFill>
          <a:ln w="9525">
            <a:solidFill>
              <a:srgbClr val="86EFAC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1000"/>
              </a:srgbClr>
            </a:outerShdw>
          </a:effectLst>
        </p:spPr>
      </p:sp>
      <p:sp>
        <p:nvSpPr>
          <p:cNvPr id="32" name="Shape 30"/>
          <p:cNvSpPr/>
          <p:nvPr/>
        </p:nvSpPr>
        <p:spPr>
          <a:xfrm>
            <a:off x="4937760" y="2743200"/>
            <a:ext cx="3931920" cy="274320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5029200" y="2743200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Final HTML sent to recipient</a:t>
            </a:r>
            <a:endParaRPr lang="en-US" sz="900" dirty="0"/>
          </a:p>
        </p:txBody>
      </p:sp>
      <p:sp>
        <p:nvSpPr>
          <p:cNvPr id="34" name="Text 32"/>
          <p:cNvSpPr/>
          <p:nvPr/>
        </p:nvSpPr>
        <p:spPr>
          <a:xfrm>
            <a:off x="5047488" y="3054096"/>
            <a:ext cx="3703320" cy="12618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16653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&lt;h2&gt;Monthly Sales Report&lt;/h2&gt;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16653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&lt;p&gt;Summary text here...&lt;/p&gt;</a:t>
            </a:r>
            <a:endParaRPr lang="en-US" sz="850" dirty="0"/>
          </a:p>
          <a:p>
            <a:pPr indent="0" marL="0">
              <a:buNone/>
            </a:pP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16653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&lt;img src="data:image/png;base64,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16653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iVBORw0KGgoAAAANSUhEU..."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16653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width="600" /&gt;</a:t>
            </a:r>
            <a:endParaRPr lang="en-US" sz="850" dirty="0"/>
          </a:p>
          <a:p>
            <a:pPr indent="0" marL="0">
              <a:buNone/>
            </a:pP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16653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&lt;p&gt;More content...&lt;/p&gt;</a:t>
            </a:r>
            <a:endParaRPr lang="en-US" sz="850" dirty="0"/>
          </a:p>
        </p:txBody>
      </p:sp>
      <p:sp>
        <p:nvSpPr>
          <p:cNvPr id="35" name="Shape 33"/>
          <p:cNvSpPr/>
          <p:nvPr/>
        </p:nvSpPr>
        <p:spPr>
          <a:xfrm>
            <a:off x="5047488" y="3401568"/>
            <a:ext cx="3310128" cy="457200"/>
          </a:xfrm>
          <a:prstGeom prst="rect">
            <a:avLst/>
          </a:prstGeom>
          <a:solidFill>
            <a:srgbClr val="16A34A">
              <a:alpha val="12000"/>
            </a:srgbClr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5074920" y="3419856"/>
            <a:ext cx="32735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6A34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&lt;img src="data:image/png;base64,..."&gt;</a:t>
            </a:r>
            <a:endParaRPr lang="en-US" sz="850" dirty="0"/>
          </a:p>
        </p:txBody>
      </p:sp>
      <p:sp>
        <p:nvSpPr>
          <p:cNvPr id="37" name="Text 35"/>
          <p:cNvSpPr/>
          <p:nvPr/>
        </p:nvSpPr>
        <p:spPr>
          <a:xfrm>
            <a:off x="5074920" y="3611880"/>
            <a:ext cx="32735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1665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← chart rendered as inline image</a:t>
            </a:r>
            <a:endParaRPr lang="en-US" sz="800" dirty="0"/>
          </a:p>
        </p:txBody>
      </p:sp>
      <p:sp>
        <p:nvSpPr>
          <p:cNvPr id="38" name="Shape 36"/>
          <p:cNvSpPr/>
          <p:nvPr/>
        </p:nvSpPr>
        <p:spPr>
          <a:xfrm>
            <a:off x="457200" y="4462272"/>
            <a:ext cx="8412480" cy="320040"/>
          </a:xfrm>
          <a:prstGeom prst="rect">
            <a:avLst/>
          </a:prstGeom>
          <a:solidFill>
            <a:srgbClr val="0F2D54"/>
          </a:solidFill>
          <a:ln w="12700">
            <a:solidFill>
              <a:srgbClr val="0F2D54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548640" y="4462272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Outlook cannot render canvas, SVG, or JavaScript — but it has always rendered &lt;img&gt; tags. PyViz exploits this.</a:t>
            </a:r>
            <a:endParaRPr lang="en-US" sz="10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02920"/>
          </a:xfrm>
          <a:prstGeom prst="rect">
            <a:avLst/>
          </a:prstGeom>
          <a:solidFill>
            <a:srgbClr val="0F2D54"/>
          </a:solidFill>
          <a:ln w="12700">
            <a:solidFill>
              <a:srgbClr val="0F2D54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82880" cy="502920"/>
          </a:xfrm>
          <a:prstGeom prst="rect">
            <a:avLst/>
          </a:prstGeom>
          <a:solidFill>
            <a:srgbClr val="0891B2"/>
          </a:solidFill>
          <a:ln w="12700">
            <a:solidFill>
              <a:srgbClr val="0891B2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20040" y="0"/>
            <a:ext cx="8503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Complete Workflow — email_list to email_output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320040" y="502920"/>
            <a:ext cx="8503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step is driven by configuration — no code changes per report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0" y="4892040"/>
            <a:ext cx="9144000" cy="256032"/>
          </a:xfrm>
          <a:prstGeom prst="rect">
            <a:avLst/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0" y="4892040"/>
            <a:ext cx="9144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PyViz  ·  Chart Email Engine  ·  Confidential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228600" y="822960"/>
            <a:ext cx="411480" cy="594360"/>
          </a:xfrm>
          <a:prstGeom prst="rect">
            <a:avLst/>
          </a:prstGeom>
          <a:solidFill>
            <a:srgbClr val="0F2D54"/>
          </a:solidFill>
          <a:ln w="12700">
            <a:solidFill>
              <a:srgbClr val="0F2D54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28600" y="822960"/>
            <a:ext cx="411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429768" y="1417320"/>
            <a:ext cx="0" cy="100584"/>
          </a:xfrm>
          <a:prstGeom prst="line">
            <a:avLst/>
          </a:prstGeom>
          <a:noFill/>
          <a:ln w="19050">
            <a:solidFill>
              <a:srgbClr val="0F2D54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713232" y="822960"/>
            <a:ext cx="8229600" cy="594360"/>
          </a:xfrm>
          <a:prstGeom prst="rect">
            <a:avLst/>
          </a:prstGeom>
          <a:solidFill>
            <a:srgbClr val="EFF6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13232" y="822960"/>
            <a:ext cx="54864" cy="594360"/>
          </a:xfrm>
          <a:prstGeom prst="rect">
            <a:avLst/>
          </a:prstGeom>
          <a:solidFill>
            <a:srgbClr val="0F2D54"/>
          </a:solidFill>
          <a:ln w="12700">
            <a:solidFill>
              <a:srgbClr val="0F2D54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77824" y="859536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F2D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email_list  (BigQuery table)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877824" y="1097280"/>
            <a:ext cx="7955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row per (report_name × email_id). Holds: recipient_email, subject, html_template with {{CHART}} placeholders, filter_params JSON (per-recipient variable overrides).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228600" y="1517904"/>
            <a:ext cx="411480" cy="594360"/>
          </a:xfrm>
          <a:prstGeom prst="rect">
            <a:avLst/>
          </a:prstGeom>
          <a:solidFill>
            <a:srgbClr val="1565C0"/>
          </a:solidFill>
          <a:ln w="12700">
            <a:solidFill>
              <a:srgbClr val="1565C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228600" y="1517904"/>
            <a:ext cx="411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429768" y="2112264"/>
            <a:ext cx="0" cy="100584"/>
          </a:xfrm>
          <a:prstGeom prst="line">
            <a:avLst/>
          </a:prstGeom>
          <a:noFill/>
          <a:ln w="19050">
            <a:solidFill>
              <a:srgbClr val="1565C0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13232" y="1517904"/>
            <a:ext cx="8229600" cy="59436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713232" y="1517904"/>
            <a:ext cx="54864" cy="594360"/>
          </a:xfrm>
          <a:prstGeom prst="rect">
            <a:avLst/>
          </a:prstGeom>
          <a:solidFill>
            <a:srgbClr val="1565C0"/>
          </a:solidFill>
          <a:ln w="12700">
            <a:solidFill>
              <a:srgbClr val="1565C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77824" y="1554480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JOIN  email_list ⋈ chart_config_view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877824" y="1792224"/>
            <a:ext cx="7955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Engine joins on report_name. Result: one row per (recipient × chart). Supplies chart_type, bq_table, filters, x_column, y_columns, title, color_theme, sort_position, width_px, height_px.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228600" y="2212848"/>
            <a:ext cx="411480" cy="594360"/>
          </a:xfrm>
          <a:prstGeom prst="rect">
            <a:avLst/>
          </a:prstGeom>
          <a:solidFill>
            <a:srgbClr val="0891B2"/>
          </a:solidFill>
          <a:ln w="12700">
            <a:solidFill>
              <a:srgbClr val="0891B2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228600" y="2212848"/>
            <a:ext cx="411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429768" y="2807208"/>
            <a:ext cx="0" cy="100584"/>
          </a:xfrm>
          <a:prstGeom prst="line">
            <a:avLst/>
          </a:prstGeom>
          <a:noFill/>
          <a:ln w="19050">
            <a:solidFill>
              <a:srgbClr val="0891B2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713232" y="2212848"/>
            <a:ext cx="8229600" cy="59436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713232" y="2212848"/>
            <a:ext cx="54864" cy="594360"/>
          </a:xfrm>
          <a:prstGeom prst="rect">
            <a:avLst/>
          </a:prstGeom>
          <a:solidFill>
            <a:srgbClr val="0891B2"/>
          </a:solidFill>
          <a:ln w="12700">
            <a:solidFill>
              <a:srgbClr val="0891B2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877824" y="2249424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891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Token Resolution  (per recipient group)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877824" y="2487168"/>
            <a:ext cx="7955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{today}, {this_month}, {this_quarter_year} auto-computed. filter_params JSON merged on top — e.g. employee_id='EMP-042' applied in WHERE clause. Subject line and title strings also resolved.</a:t>
            </a:r>
            <a:endParaRPr lang="en-US" sz="900" dirty="0"/>
          </a:p>
        </p:txBody>
      </p:sp>
      <p:sp>
        <p:nvSpPr>
          <p:cNvPr id="29" name="Shape 27"/>
          <p:cNvSpPr/>
          <p:nvPr/>
        </p:nvSpPr>
        <p:spPr>
          <a:xfrm>
            <a:off x="228600" y="2907792"/>
            <a:ext cx="411480" cy="59436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28600" y="2907792"/>
            <a:ext cx="411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429768" y="3502152"/>
            <a:ext cx="0" cy="100584"/>
          </a:xfrm>
          <a:prstGeom prst="line">
            <a:avLst/>
          </a:prstGeom>
          <a:noFill/>
          <a:ln w="19050">
            <a:solidFill>
              <a:srgbClr val="0D9488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713232" y="2907792"/>
            <a:ext cx="8229600" cy="59436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713232" y="2907792"/>
            <a:ext cx="54864" cy="59436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877824" y="2944368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Parallel Chart Render  (4 threads)</a:t>
            </a:r>
            <a:endParaRPr lang="en-US" sz="1000" dirty="0"/>
          </a:p>
        </p:txBody>
      </p:sp>
      <p:sp>
        <p:nvSpPr>
          <p:cNvPr id="35" name="Text 33"/>
          <p:cNvSpPr/>
          <p:nvPr/>
        </p:nvSpPr>
        <p:spPr>
          <a:xfrm>
            <a:off x="877824" y="3182112"/>
            <a:ext cx="7955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{{PLACEHOLDER}} in html_template triggers: resolve filters → SELECT x,y FROM bq_table WHERE filters → fetch data → Altair render → vl-convert → base64 PNG string.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228600" y="3602736"/>
            <a:ext cx="411480" cy="594360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28600" y="3602736"/>
            <a:ext cx="411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429768" y="4197096"/>
            <a:ext cx="0" cy="100584"/>
          </a:xfrm>
          <a:prstGeom prst="line">
            <a:avLst/>
          </a:prstGeom>
          <a:noFill/>
          <a:ln w="19050">
            <a:solidFill>
              <a:srgbClr val="16A34A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713232" y="3602736"/>
            <a:ext cx="8229600" cy="59436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713232" y="3602736"/>
            <a:ext cx="54864" cy="594360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877824" y="3639312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6A3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Inject + Save HTML File</a:t>
            </a:r>
            <a:endParaRPr lang="en-US" sz="1000" dirty="0"/>
          </a:p>
        </p:txBody>
      </p:sp>
      <p:sp>
        <p:nvSpPr>
          <p:cNvPr id="42" name="Text 40"/>
          <p:cNvSpPr/>
          <p:nvPr/>
        </p:nvSpPr>
        <p:spPr>
          <a:xfrm>
            <a:off x="877824" y="3877056"/>
            <a:ext cx="7955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{{PLACEHOLDER}} replaced with Outlook-safe &lt;img src='data:image/png;base64,...'&gt;. One .html file written per (report_name × email_id) to output_emails/.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228600" y="4297680"/>
            <a:ext cx="411480" cy="594360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228600" y="4297680"/>
            <a:ext cx="411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</a:t>
            </a:r>
            <a:endParaRPr lang="en-US" sz="1000" dirty="0"/>
          </a:p>
        </p:txBody>
      </p:sp>
      <p:sp>
        <p:nvSpPr>
          <p:cNvPr id="45" name="Shape 43"/>
          <p:cNvSpPr/>
          <p:nvPr/>
        </p:nvSpPr>
        <p:spPr>
          <a:xfrm>
            <a:off x="713232" y="4297680"/>
            <a:ext cx="8229600" cy="594360"/>
          </a:xfrm>
          <a:prstGeom prst="rect">
            <a:avLst/>
          </a:prstGeom>
          <a:solidFill>
            <a:srgbClr val="ECFDF5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713232" y="4297680"/>
            <a:ext cx="54864" cy="594360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877824" y="4334256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email_output  (BigQuery audit table)</a:t>
            </a:r>
            <a:endParaRPr lang="en-US" sz="1000" dirty="0"/>
          </a:p>
        </p:txBody>
      </p:sp>
      <p:sp>
        <p:nvSpPr>
          <p:cNvPr id="48" name="Text 46"/>
          <p:cNvSpPr/>
          <p:nvPr/>
        </p:nvSpPr>
        <p:spPr>
          <a:xfrm>
            <a:off x="877824" y="4572000"/>
            <a:ext cx="7955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Row written: report_name, recipient_email, status (SUCCESS/WARN/FAILED), charts_injected / total_charts, error_message, processed_at timestamp.</a:t>
            </a:r>
            <a:endParaRPr lang="en-US" sz="900" dirty="0"/>
          </a:p>
        </p:txBody>
      </p:sp>
      <p:sp>
        <p:nvSpPr>
          <p:cNvPr id="49" name="Text 47"/>
          <p:cNvSpPr/>
          <p:nvPr/>
        </p:nvSpPr>
        <p:spPr>
          <a:xfrm>
            <a:off x="228600" y="4709160"/>
            <a:ext cx="8686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BigQuery is the only system touched — no files to manage, no manual steps.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1F5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02920"/>
          </a:xfrm>
          <a:prstGeom prst="rect">
            <a:avLst/>
          </a:prstGeom>
          <a:solidFill>
            <a:srgbClr val="0F2D54"/>
          </a:solidFill>
          <a:ln w="12700">
            <a:solidFill>
              <a:srgbClr val="0F2D54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82880" cy="502920"/>
          </a:xfrm>
          <a:prstGeom prst="rect">
            <a:avLst/>
          </a:prstGeom>
          <a:solidFill>
            <a:srgbClr val="0891B2"/>
          </a:solidFill>
          <a:ln w="12700">
            <a:solidFill>
              <a:srgbClr val="0891B2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20040" y="0"/>
            <a:ext cx="8503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Adding One New Chart — 15 Minutes, SQL Only, Zero Python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320040" y="502920"/>
            <a:ext cx="8503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Analyst adds a chart by writing one SQL block and inserting one template variable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0" y="4892040"/>
            <a:ext cx="9144000" cy="256032"/>
          </a:xfrm>
          <a:prstGeom prst="rect">
            <a:avLst/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0" y="4892040"/>
            <a:ext cx="9144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PyViz  ·  Chart Email Engine  ·  Confidential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228600" y="804672"/>
            <a:ext cx="8686800" cy="1444752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1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228600" y="804672"/>
            <a:ext cx="64008" cy="1444752"/>
          </a:xfrm>
          <a:prstGeom prst="rect">
            <a:avLst/>
          </a:prstGeom>
          <a:solidFill>
            <a:srgbClr val="1565C0"/>
          </a:solidFill>
          <a:ln w="12700">
            <a:solidFill>
              <a:srgbClr val="1565C0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384048" y="896112"/>
            <a:ext cx="347472" cy="347472"/>
          </a:xfrm>
          <a:prstGeom prst="ellipse">
            <a:avLst/>
          </a:prstGeom>
          <a:solidFill>
            <a:srgbClr val="1565C0"/>
          </a:solidFill>
          <a:ln w="12700">
            <a:solidFill>
              <a:srgbClr val="1565C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84048" y="896112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804672" y="950976"/>
            <a:ext cx="658368" cy="219456"/>
          </a:xfrm>
          <a:prstGeom prst="rect">
            <a:avLst/>
          </a:prstGeom>
          <a:solidFill>
            <a:srgbClr val="1565C0">
              <a:alpha val="18000"/>
            </a:srgbClr>
          </a:solidFill>
          <a:ln w="12700">
            <a:solidFill>
              <a:srgbClr val="1565C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04672" y="950976"/>
            <a:ext cx="65836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min</a:t>
            </a:r>
            <a:endParaRPr lang="en-US" sz="800" dirty="0"/>
          </a:p>
        </p:txBody>
      </p:sp>
      <p:sp>
        <p:nvSpPr>
          <p:cNvPr id="14" name="Text 12"/>
          <p:cNvSpPr/>
          <p:nvPr/>
        </p:nvSpPr>
        <p:spPr>
          <a:xfrm>
            <a:off x="1536192" y="932688"/>
            <a:ext cx="727862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Append one UNION ALL block to chart_config_view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84048" y="1307592"/>
            <a:ext cx="6309360" cy="877824"/>
          </a:xfrm>
          <a:prstGeom prst="rect">
            <a:avLst/>
          </a:prstGeom>
          <a:solidFill>
            <a:srgbClr val="0F2340"/>
          </a:solidFill>
          <a:ln w="12700">
            <a:solidFill>
              <a:srgbClr val="0A1A2E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1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384048" y="1307592"/>
            <a:ext cx="6309360" cy="219456"/>
          </a:xfrm>
          <a:prstGeom prst="rect">
            <a:avLst/>
          </a:prstGeom>
          <a:solidFill>
            <a:srgbClr val="0A1A2E"/>
          </a:solidFill>
          <a:ln w="12700">
            <a:solidFill>
              <a:srgbClr val="0A1A2E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75488" y="1307592"/>
            <a:ext cx="6126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64B5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SQL / Command</a:t>
            </a:r>
            <a:endParaRPr lang="en-US" sz="800" dirty="0"/>
          </a:p>
        </p:txBody>
      </p:sp>
      <p:sp>
        <p:nvSpPr>
          <p:cNvPr id="18" name="Text 16"/>
          <p:cNvSpPr/>
          <p:nvPr/>
        </p:nvSpPr>
        <p:spPr>
          <a:xfrm>
            <a:off x="493776" y="1554480"/>
            <a:ext cx="6108192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7DD3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SELECT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7DD3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'Monthly_Sales_Report'  AS report_name,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7DD3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'REGION_PIE'            AS variable_name,   -- this becomes {{REGION_PIE}} in template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7DD3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'arc_altair'            AS chart_type,       -- pie / donut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7DD3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'your_dataset.sales'    AS bq_table,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7DD3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'month = {this_month}'  AS filters,          -- token auto-resolved per run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7DD3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'region'                AS x_column,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7DD3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'revenue'               AS y_columns,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7DD3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'Revenue by Region'     AS title,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7DD3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'vibrant'               AS color_theme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6766560" y="1307592"/>
            <a:ext cx="2011680" cy="877824"/>
          </a:xfrm>
          <a:prstGeom prst="rect">
            <a:avLst/>
          </a:prstGeom>
          <a:solidFill>
            <a:srgbClr val="1565C0">
              <a:alpha val="8000"/>
            </a:srgbClr>
          </a:solidFill>
          <a:ln w="12700">
            <a:solidFill>
              <a:srgbClr val="1565C0">
                <a:alpha val="50000"/>
              </a:srgbClr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839712" y="1380744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💡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6876288" y="1399032"/>
            <a:ext cx="1828800" cy="7406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SQL needed — in BigQuery console. No Python file to touch.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228600" y="2304288"/>
            <a:ext cx="8686800" cy="109728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1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228600" y="2304288"/>
            <a:ext cx="64008" cy="109728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84048" y="2395728"/>
            <a:ext cx="347472" cy="347472"/>
          </a:xfrm>
          <a:prstGeom prst="ellipse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84048" y="2395728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26" name="Shape 24"/>
          <p:cNvSpPr/>
          <p:nvPr/>
        </p:nvSpPr>
        <p:spPr>
          <a:xfrm>
            <a:off x="804672" y="2450592"/>
            <a:ext cx="658368" cy="219456"/>
          </a:xfrm>
          <a:prstGeom prst="rect">
            <a:avLst/>
          </a:prstGeom>
          <a:solidFill>
            <a:srgbClr val="0D9488">
              <a:alpha val="18000"/>
            </a:srgbClr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804672" y="2450592"/>
            <a:ext cx="65836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min</a:t>
            </a:r>
            <a:endParaRPr lang="en-US" sz="800" dirty="0"/>
          </a:p>
        </p:txBody>
      </p:sp>
      <p:sp>
        <p:nvSpPr>
          <p:cNvPr id="28" name="Text 26"/>
          <p:cNvSpPr/>
          <p:nvPr/>
        </p:nvSpPr>
        <p:spPr>
          <a:xfrm>
            <a:off x="1536192" y="2432304"/>
            <a:ext cx="727862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{{REGION_PIE}} placeholder into html_template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84048" y="2807208"/>
            <a:ext cx="6309360" cy="530352"/>
          </a:xfrm>
          <a:prstGeom prst="rect">
            <a:avLst/>
          </a:prstGeom>
          <a:solidFill>
            <a:srgbClr val="0F2340"/>
          </a:solidFill>
          <a:ln w="12700">
            <a:solidFill>
              <a:srgbClr val="0A1A2E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1000"/>
              </a:srgbClr>
            </a:outerShdw>
          </a:effectLst>
        </p:spPr>
      </p:sp>
      <p:sp>
        <p:nvSpPr>
          <p:cNvPr id="30" name="Shape 28"/>
          <p:cNvSpPr/>
          <p:nvPr/>
        </p:nvSpPr>
        <p:spPr>
          <a:xfrm>
            <a:off x="384048" y="2807208"/>
            <a:ext cx="6309360" cy="219456"/>
          </a:xfrm>
          <a:prstGeom prst="rect">
            <a:avLst/>
          </a:prstGeom>
          <a:solidFill>
            <a:srgbClr val="0A1A2E"/>
          </a:solidFill>
          <a:ln w="12700">
            <a:solidFill>
              <a:srgbClr val="0A1A2E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475488" y="2807208"/>
            <a:ext cx="6126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64B5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SQL / Command</a:t>
            </a:r>
            <a:endParaRPr lang="en-US" sz="800" dirty="0"/>
          </a:p>
        </p:txBody>
      </p:sp>
      <p:sp>
        <p:nvSpPr>
          <p:cNvPr id="32" name="Text 30"/>
          <p:cNvSpPr/>
          <p:nvPr/>
        </p:nvSpPr>
        <p:spPr>
          <a:xfrm>
            <a:off x="493776" y="3054096"/>
            <a:ext cx="61081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7DD3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UPDATE email_list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7DD3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SET html_template = html_template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7DD3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|| '&lt;h3&gt;Revenue Mix This Month&lt;/h3&gt;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7DD3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{{REGION_PIE}}'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7DD3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WHERE report_name = 'Monthly_Sales_Report';</a:t>
            </a:r>
            <a:endParaRPr lang="en-US" sz="850" dirty="0"/>
          </a:p>
        </p:txBody>
      </p:sp>
      <p:sp>
        <p:nvSpPr>
          <p:cNvPr id="33" name="Shape 31"/>
          <p:cNvSpPr/>
          <p:nvPr/>
        </p:nvSpPr>
        <p:spPr>
          <a:xfrm>
            <a:off x="6766560" y="2807208"/>
            <a:ext cx="2011680" cy="530352"/>
          </a:xfrm>
          <a:prstGeom prst="rect">
            <a:avLst/>
          </a:prstGeom>
          <a:solidFill>
            <a:srgbClr val="0D9488">
              <a:alpha val="8000"/>
            </a:srgbClr>
          </a:solidFill>
          <a:ln w="12700">
            <a:solidFill>
              <a:srgbClr val="0D9488">
                <a:alpha val="50000"/>
              </a:srgbClr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839712" y="288036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💡</a:t>
            </a:r>
            <a:endParaRPr lang="en-US" sz="1300" dirty="0"/>
          </a:p>
        </p:txBody>
      </p:sp>
      <p:sp>
        <p:nvSpPr>
          <p:cNvPr id="35" name="Text 33"/>
          <p:cNvSpPr/>
          <p:nvPr/>
        </p:nvSpPr>
        <p:spPr>
          <a:xfrm>
            <a:off x="6876288" y="2898648"/>
            <a:ext cx="182880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UPDATE in email_list. Engine detects token automatically.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228600" y="3456432"/>
            <a:ext cx="8686800" cy="109728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1000"/>
              </a:srgbClr>
            </a:outerShdw>
          </a:effectLst>
        </p:spPr>
      </p:sp>
      <p:sp>
        <p:nvSpPr>
          <p:cNvPr id="37" name="Shape 35"/>
          <p:cNvSpPr/>
          <p:nvPr/>
        </p:nvSpPr>
        <p:spPr>
          <a:xfrm>
            <a:off x="228600" y="3456432"/>
            <a:ext cx="64008" cy="1097280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84048" y="3547872"/>
            <a:ext cx="347472" cy="347472"/>
          </a:xfrm>
          <a:prstGeom prst="ellipse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84048" y="3547872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40" name="Shape 38"/>
          <p:cNvSpPr/>
          <p:nvPr/>
        </p:nvSpPr>
        <p:spPr>
          <a:xfrm>
            <a:off x="804672" y="3602736"/>
            <a:ext cx="658368" cy="219456"/>
          </a:xfrm>
          <a:prstGeom prst="rect">
            <a:avLst/>
          </a:prstGeom>
          <a:solidFill>
            <a:srgbClr val="16A34A">
              <a:alpha val="18000"/>
            </a:srgbClr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804672" y="3602736"/>
            <a:ext cx="65836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16A3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 sec</a:t>
            </a:r>
            <a:endParaRPr lang="en-US" sz="800" dirty="0"/>
          </a:p>
        </p:txBody>
      </p:sp>
      <p:sp>
        <p:nvSpPr>
          <p:cNvPr id="42" name="Text 40"/>
          <p:cNvSpPr/>
          <p:nvPr/>
        </p:nvSpPr>
        <p:spPr>
          <a:xfrm>
            <a:off x="1536192" y="3584448"/>
            <a:ext cx="727862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the engine — chart appears in every recipient's email</a:t>
            </a:r>
            <a:endParaRPr lang="en-US" sz="1100" dirty="0"/>
          </a:p>
        </p:txBody>
      </p:sp>
      <p:sp>
        <p:nvSpPr>
          <p:cNvPr id="43" name="Shape 41"/>
          <p:cNvSpPr/>
          <p:nvPr/>
        </p:nvSpPr>
        <p:spPr>
          <a:xfrm>
            <a:off x="384048" y="3959352"/>
            <a:ext cx="6309360" cy="530352"/>
          </a:xfrm>
          <a:prstGeom prst="rect">
            <a:avLst/>
          </a:prstGeom>
          <a:solidFill>
            <a:srgbClr val="0F2340"/>
          </a:solidFill>
          <a:ln w="12700">
            <a:solidFill>
              <a:srgbClr val="0A1A2E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1000"/>
              </a:srgbClr>
            </a:outerShdw>
          </a:effectLst>
        </p:spPr>
      </p:sp>
      <p:sp>
        <p:nvSpPr>
          <p:cNvPr id="44" name="Shape 42"/>
          <p:cNvSpPr/>
          <p:nvPr/>
        </p:nvSpPr>
        <p:spPr>
          <a:xfrm>
            <a:off x="384048" y="3959352"/>
            <a:ext cx="6309360" cy="219456"/>
          </a:xfrm>
          <a:prstGeom prst="rect">
            <a:avLst/>
          </a:prstGeom>
          <a:solidFill>
            <a:srgbClr val="0A1A2E"/>
          </a:solidFill>
          <a:ln w="12700">
            <a:solidFill>
              <a:srgbClr val="0A1A2E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475488" y="3959352"/>
            <a:ext cx="6126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64B5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SQL / Command</a:t>
            </a:r>
            <a:endParaRPr lang="en-US" sz="800" dirty="0"/>
          </a:p>
        </p:txBody>
      </p:sp>
      <p:sp>
        <p:nvSpPr>
          <p:cNvPr id="46" name="Text 44"/>
          <p:cNvSpPr/>
          <p:nvPr/>
        </p:nvSpPr>
        <p:spPr>
          <a:xfrm>
            <a:off x="493776" y="4206240"/>
            <a:ext cx="61081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7DD3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 chart_email_engine_v15.py</a:t>
            </a:r>
            <a:endParaRPr lang="en-US" sz="850" dirty="0"/>
          </a:p>
          <a:p>
            <a:pPr indent="0" marL="0">
              <a:buNone/>
            </a:pP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7DD3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✓  REGION_PIE  [arc_altair]  pos=3  (42,811 chars)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7DD3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✓  Saved → output_emails/Monthly_Sales_Report__EMP001.html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7DD3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✓  Status: SUCCESS  charts=3/3</a:t>
            </a:r>
            <a:endParaRPr lang="en-US" sz="850" dirty="0"/>
          </a:p>
        </p:txBody>
      </p:sp>
      <p:sp>
        <p:nvSpPr>
          <p:cNvPr id="47" name="Shape 45"/>
          <p:cNvSpPr/>
          <p:nvPr/>
        </p:nvSpPr>
        <p:spPr>
          <a:xfrm>
            <a:off x="6766560" y="3959352"/>
            <a:ext cx="2011680" cy="530352"/>
          </a:xfrm>
          <a:prstGeom prst="rect">
            <a:avLst/>
          </a:prstGeom>
          <a:solidFill>
            <a:srgbClr val="16A34A">
              <a:alpha val="8000"/>
            </a:srgbClr>
          </a:solidFill>
          <a:ln w="12700">
            <a:solidFill>
              <a:srgbClr val="16A34A">
                <a:alpha val="50000"/>
              </a:srgbClr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6839712" y="4032504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💡</a:t>
            </a:r>
            <a:endParaRPr lang="en-US" sz="1300" dirty="0"/>
          </a:p>
        </p:txBody>
      </p:sp>
      <p:sp>
        <p:nvSpPr>
          <p:cNvPr id="49" name="Text 47"/>
          <p:cNvSpPr/>
          <p:nvPr/>
        </p:nvSpPr>
        <p:spPr>
          <a:xfrm>
            <a:off x="6876288" y="4050792"/>
            <a:ext cx="182880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Python edits. No deployments. Chart renders for all recipients.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02920"/>
          </a:xfrm>
          <a:prstGeom prst="rect">
            <a:avLst/>
          </a:prstGeom>
          <a:solidFill>
            <a:srgbClr val="0F2D54"/>
          </a:solidFill>
          <a:ln w="12700">
            <a:solidFill>
              <a:srgbClr val="0F2D54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82880" cy="502920"/>
          </a:xfrm>
          <a:prstGeom prst="rect">
            <a:avLst/>
          </a:prstGeom>
          <a:solidFill>
            <a:srgbClr val="0891B2"/>
          </a:solidFill>
          <a:ln w="12700">
            <a:solidFill>
              <a:srgbClr val="0891B2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20040" y="0"/>
            <a:ext cx="8503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Dynamic Variables — One Chart Config, N Personalised Views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320040" y="502920"/>
            <a:ext cx="8503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Tokens in filters/titles auto-resolve per recipient — no duplicate config rows needed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0" y="4892040"/>
            <a:ext cx="9144000" cy="256032"/>
          </a:xfrm>
          <a:prstGeom prst="rect">
            <a:avLst/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0" y="4892040"/>
            <a:ext cx="9144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PyViz  ·  Chart Email Engine  ·  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274320" y="822960"/>
            <a:ext cx="4114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F2D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Tokens Are Resolved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274320" y="1188720"/>
            <a:ext cx="3840480" cy="960120"/>
          </a:xfrm>
          <a:prstGeom prst="rect">
            <a:avLst/>
          </a:prstGeom>
          <a:solidFill>
            <a:srgbClr val="1565C0"/>
          </a:solidFill>
          <a:ln w="12700">
            <a:solidFill>
              <a:srgbClr val="1565C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1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365760" y="1225296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BAE6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HIGHEST</a:t>
            </a:r>
            <a:endParaRPr lang="en-US" sz="750" dirty="0"/>
          </a:p>
        </p:txBody>
      </p:sp>
      <p:sp>
        <p:nvSpPr>
          <p:cNvPr id="11" name="Text 9"/>
          <p:cNvSpPr/>
          <p:nvPr/>
        </p:nvSpPr>
        <p:spPr>
          <a:xfrm>
            <a:off x="365760" y="1389888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filter_params JSON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365760" y="164592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BAE6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Per-recipient override in email_list.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BAE6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E.g. {"email_id":"EMP-042","region":"South"}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502920" y="2304288"/>
            <a:ext cx="3383280" cy="96012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1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594360" y="2340864"/>
            <a:ext cx="3200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BAE6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MIDDLE</a:t>
            </a:r>
            <a:endParaRPr lang="en-US" sz="750" dirty="0"/>
          </a:p>
        </p:txBody>
      </p:sp>
      <p:sp>
        <p:nvSpPr>
          <p:cNvPr id="15" name="Text 13"/>
          <p:cNvSpPr/>
          <p:nvPr/>
        </p:nvSpPr>
        <p:spPr>
          <a:xfrm>
            <a:off x="594360" y="2505456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TABLE_VARS (config.py)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594360" y="2761488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BAE6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Global constants — e.g. env=prod.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BAE6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Apply to every email in this run.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731520" y="3419856"/>
            <a:ext cx="2926080" cy="960120"/>
          </a:xfrm>
          <a:prstGeom prst="rect">
            <a:avLst/>
          </a:prstGeom>
          <a:solidFill>
            <a:srgbClr val="0F2D54"/>
          </a:solidFill>
          <a:ln w="12700">
            <a:solidFill>
              <a:srgbClr val="0F2D54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1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822960" y="3456432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BAE6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LOWEST</a:t>
            </a:r>
            <a:endParaRPr lang="en-US" sz="750" dirty="0"/>
          </a:p>
        </p:txBody>
      </p:sp>
      <p:sp>
        <p:nvSpPr>
          <p:cNvPr id="19" name="Text 17"/>
          <p:cNvSpPr/>
          <p:nvPr/>
        </p:nvSpPr>
        <p:spPr>
          <a:xfrm>
            <a:off x="822960" y="3621024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Built-in Runtime Tokens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822960" y="3877056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BAE6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{today}  {this_month}  {this_quarter_year}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BAE6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{last_quarter_year}  {this_year}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4480560" y="822960"/>
            <a:ext cx="4389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F2D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Token Reference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4434840" y="1188720"/>
            <a:ext cx="4434840" cy="3154680"/>
          </a:xfrm>
          <a:prstGeom prst="rect">
            <a:avLst/>
          </a:prstGeom>
          <a:solidFill>
            <a:srgbClr val="F1F5F9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1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4434840" y="1188720"/>
            <a:ext cx="1508760" cy="292608"/>
          </a:xfrm>
          <a:prstGeom prst="rect">
            <a:avLst/>
          </a:prstGeom>
          <a:solidFill>
            <a:srgbClr val="0F2D54"/>
          </a:solidFill>
          <a:ln w="12700">
            <a:solidFill>
              <a:srgbClr val="0F2D54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4434840" y="1188720"/>
            <a:ext cx="1508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Token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5989320" y="1188720"/>
            <a:ext cx="1234440" cy="292608"/>
          </a:xfrm>
          <a:prstGeom prst="rect">
            <a:avLst/>
          </a:prstGeom>
          <a:solidFill>
            <a:srgbClr val="0F2D54"/>
          </a:solidFill>
          <a:ln w="12700">
            <a:solidFill>
              <a:srgbClr val="0F2D54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989320" y="1188720"/>
            <a:ext cx="1234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Resolves to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7269480" y="1188720"/>
            <a:ext cx="1572768" cy="292608"/>
          </a:xfrm>
          <a:prstGeom prst="rect">
            <a:avLst/>
          </a:prstGeom>
          <a:solidFill>
            <a:srgbClr val="0F2D54"/>
          </a:solidFill>
          <a:ln w="12700">
            <a:solidFill>
              <a:srgbClr val="0F2D54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7269480" y="1188720"/>
            <a:ext cx="157276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Used in</a:t>
            </a:r>
            <a:endParaRPr lang="en-US" sz="900" dirty="0"/>
          </a:p>
        </p:txBody>
      </p:sp>
      <p:sp>
        <p:nvSpPr>
          <p:cNvPr id="29" name="Shape 27"/>
          <p:cNvSpPr/>
          <p:nvPr/>
        </p:nvSpPr>
        <p:spPr>
          <a:xfrm>
            <a:off x="4434840" y="1508760"/>
            <a:ext cx="4434840" cy="338328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4480560" y="1508760"/>
            <a:ext cx="1444752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565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{today}</a:t>
            </a:r>
            <a:endParaRPr lang="en-US" sz="850" dirty="0"/>
          </a:p>
        </p:txBody>
      </p:sp>
      <p:sp>
        <p:nvSpPr>
          <p:cNvPr id="31" name="Text 29"/>
          <p:cNvSpPr/>
          <p:nvPr/>
        </p:nvSpPr>
        <p:spPr>
          <a:xfrm>
            <a:off x="5989320" y="1508760"/>
            <a:ext cx="1207008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2026-05-07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7223760" y="1508760"/>
            <a:ext cx="160020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SQL WHERE / titles</a:t>
            </a:r>
            <a:endParaRPr lang="en-US" sz="850" dirty="0"/>
          </a:p>
        </p:txBody>
      </p:sp>
      <p:sp>
        <p:nvSpPr>
          <p:cNvPr id="33" name="Shape 31"/>
          <p:cNvSpPr/>
          <p:nvPr/>
        </p:nvSpPr>
        <p:spPr>
          <a:xfrm>
            <a:off x="4434840" y="1856232"/>
            <a:ext cx="4434840" cy="338328"/>
          </a:xfrm>
          <a:prstGeom prst="rect">
            <a:avLst/>
          </a:prstGeom>
          <a:solidFill>
            <a:srgbClr val="F1F5F9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4480560" y="1856232"/>
            <a:ext cx="1444752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565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{this_month}</a:t>
            </a:r>
            <a:endParaRPr lang="en-US" sz="850" dirty="0"/>
          </a:p>
        </p:txBody>
      </p:sp>
      <p:sp>
        <p:nvSpPr>
          <p:cNvPr id="35" name="Text 33"/>
          <p:cNvSpPr/>
          <p:nvPr/>
        </p:nvSpPr>
        <p:spPr>
          <a:xfrm>
            <a:off x="5989320" y="1856232"/>
            <a:ext cx="1207008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2026-05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7223760" y="1856232"/>
            <a:ext cx="160020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SQL filters, chart subtitle</a:t>
            </a:r>
            <a:endParaRPr lang="en-US" sz="850" dirty="0"/>
          </a:p>
        </p:txBody>
      </p:sp>
      <p:sp>
        <p:nvSpPr>
          <p:cNvPr id="37" name="Shape 35"/>
          <p:cNvSpPr/>
          <p:nvPr/>
        </p:nvSpPr>
        <p:spPr>
          <a:xfrm>
            <a:off x="4434840" y="2203704"/>
            <a:ext cx="4434840" cy="338328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480560" y="2203704"/>
            <a:ext cx="1444752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565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{this_year}</a:t>
            </a:r>
            <a:endParaRPr lang="en-US" sz="850" dirty="0"/>
          </a:p>
        </p:txBody>
      </p:sp>
      <p:sp>
        <p:nvSpPr>
          <p:cNvPr id="39" name="Text 37"/>
          <p:cNvSpPr/>
          <p:nvPr/>
        </p:nvSpPr>
        <p:spPr>
          <a:xfrm>
            <a:off x="5989320" y="2203704"/>
            <a:ext cx="1207008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</a:t>
            </a:r>
            <a:endParaRPr lang="en-US" sz="900" dirty="0"/>
          </a:p>
        </p:txBody>
      </p:sp>
      <p:sp>
        <p:nvSpPr>
          <p:cNvPr id="40" name="Text 38"/>
          <p:cNvSpPr/>
          <p:nvPr/>
        </p:nvSpPr>
        <p:spPr>
          <a:xfrm>
            <a:off x="7223760" y="2203704"/>
            <a:ext cx="160020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SQL filters, titles</a:t>
            </a:r>
            <a:endParaRPr lang="en-US" sz="850" dirty="0"/>
          </a:p>
        </p:txBody>
      </p:sp>
      <p:sp>
        <p:nvSpPr>
          <p:cNvPr id="41" name="Shape 39"/>
          <p:cNvSpPr/>
          <p:nvPr/>
        </p:nvSpPr>
        <p:spPr>
          <a:xfrm>
            <a:off x="4434840" y="2551176"/>
            <a:ext cx="4434840" cy="338328"/>
          </a:xfrm>
          <a:prstGeom prst="rect">
            <a:avLst/>
          </a:prstGeom>
          <a:solidFill>
            <a:srgbClr val="F1F5F9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4480560" y="2551176"/>
            <a:ext cx="1444752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565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{this_quarter_year}</a:t>
            </a:r>
            <a:endParaRPr lang="en-US" sz="850" dirty="0"/>
          </a:p>
        </p:txBody>
      </p:sp>
      <p:sp>
        <p:nvSpPr>
          <p:cNvPr id="43" name="Text 41"/>
          <p:cNvSpPr/>
          <p:nvPr/>
        </p:nvSpPr>
        <p:spPr>
          <a:xfrm>
            <a:off x="5989320" y="2551176"/>
            <a:ext cx="1207008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Q2-2026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7223760" y="2551176"/>
            <a:ext cx="160020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Quarter reports</a:t>
            </a:r>
            <a:endParaRPr lang="en-US" sz="850" dirty="0"/>
          </a:p>
        </p:txBody>
      </p:sp>
      <p:sp>
        <p:nvSpPr>
          <p:cNvPr id="45" name="Shape 43"/>
          <p:cNvSpPr/>
          <p:nvPr/>
        </p:nvSpPr>
        <p:spPr>
          <a:xfrm>
            <a:off x="4434840" y="2898648"/>
            <a:ext cx="4434840" cy="338328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4480560" y="2898648"/>
            <a:ext cx="1444752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565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{last_quarter_year}</a:t>
            </a:r>
            <a:endParaRPr lang="en-US" sz="850" dirty="0"/>
          </a:p>
        </p:txBody>
      </p:sp>
      <p:sp>
        <p:nvSpPr>
          <p:cNvPr id="47" name="Text 45"/>
          <p:cNvSpPr/>
          <p:nvPr/>
        </p:nvSpPr>
        <p:spPr>
          <a:xfrm>
            <a:off x="5989320" y="2898648"/>
            <a:ext cx="1207008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Q1-2026</a:t>
            </a:r>
            <a:endParaRPr lang="en-US" sz="900" dirty="0"/>
          </a:p>
        </p:txBody>
      </p:sp>
      <p:sp>
        <p:nvSpPr>
          <p:cNvPr id="48" name="Text 46"/>
          <p:cNvSpPr/>
          <p:nvPr/>
        </p:nvSpPr>
        <p:spPr>
          <a:xfrm>
            <a:off x="7223760" y="2898648"/>
            <a:ext cx="160020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QoQ comparison charts</a:t>
            </a:r>
            <a:endParaRPr lang="en-US" sz="850" dirty="0"/>
          </a:p>
        </p:txBody>
      </p:sp>
      <p:sp>
        <p:nvSpPr>
          <p:cNvPr id="49" name="Shape 47"/>
          <p:cNvSpPr/>
          <p:nvPr/>
        </p:nvSpPr>
        <p:spPr>
          <a:xfrm>
            <a:off x="4434840" y="3246120"/>
            <a:ext cx="4434840" cy="338328"/>
          </a:xfrm>
          <a:prstGeom prst="rect">
            <a:avLst/>
          </a:prstGeom>
          <a:solidFill>
            <a:srgbClr val="F1F5F9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4480560" y="3246120"/>
            <a:ext cx="1444752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565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{email_id}</a:t>
            </a:r>
            <a:endParaRPr lang="en-US" sz="850" dirty="0"/>
          </a:p>
        </p:txBody>
      </p:sp>
      <p:sp>
        <p:nvSpPr>
          <p:cNvPr id="51" name="Text 49"/>
          <p:cNvSpPr/>
          <p:nvPr/>
        </p:nvSpPr>
        <p:spPr>
          <a:xfrm>
            <a:off x="5989320" y="3246120"/>
            <a:ext cx="1207008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EMP-042</a:t>
            </a:r>
            <a:endParaRPr lang="en-US" sz="900" dirty="0"/>
          </a:p>
        </p:txBody>
      </p:sp>
      <p:sp>
        <p:nvSpPr>
          <p:cNvPr id="52" name="Text 50"/>
          <p:cNvSpPr/>
          <p:nvPr/>
        </p:nvSpPr>
        <p:spPr>
          <a:xfrm>
            <a:off x="7223760" y="3246120"/>
            <a:ext cx="160020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Per-recipient row filter</a:t>
            </a:r>
            <a:endParaRPr lang="en-US" sz="850" dirty="0"/>
          </a:p>
        </p:txBody>
      </p:sp>
      <p:sp>
        <p:nvSpPr>
          <p:cNvPr id="53" name="Shape 51"/>
          <p:cNvSpPr/>
          <p:nvPr/>
        </p:nvSpPr>
        <p:spPr>
          <a:xfrm>
            <a:off x="4434840" y="3593592"/>
            <a:ext cx="4434840" cy="338328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4480560" y="3593592"/>
            <a:ext cx="1444752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565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Custom token</a:t>
            </a:r>
            <a:endParaRPr lang="en-US" sz="850" dirty="0"/>
          </a:p>
        </p:txBody>
      </p:sp>
      <p:sp>
        <p:nvSpPr>
          <p:cNvPr id="55" name="Text 53"/>
          <p:cNvSpPr/>
          <p:nvPr/>
        </p:nvSpPr>
        <p:spPr>
          <a:xfrm>
            <a:off x="5989320" y="3593592"/>
            <a:ext cx="1207008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Any string</a:t>
            </a:r>
            <a:endParaRPr lang="en-US" sz="900" dirty="0"/>
          </a:p>
        </p:txBody>
      </p:sp>
      <p:sp>
        <p:nvSpPr>
          <p:cNvPr id="56" name="Text 54"/>
          <p:cNvSpPr/>
          <p:nvPr/>
        </p:nvSpPr>
        <p:spPr>
          <a:xfrm>
            <a:off x="7223760" y="3593592"/>
            <a:ext cx="160020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Via filter_params JSON</a:t>
            </a:r>
            <a:endParaRPr lang="en-US" sz="850" dirty="0"/>
          </a:p>
        </p:txBody>
      </p:sp>
      <p:sp>
        <p:nvSpPr>
          <p:cNvPr id="57" name="Shape 55"/>
          <p:cNvSpPr/>
          <p:nvPr/>
        </p:nvSpPr>
        <p:spPr>
          <a:xfrm>
            <a:off x="4434840" y="3941064"/>
            <a:ext cx="4434840" cy="338328"/>
          </a:xfrm>
          <a:prstGeom prst="rect">
            <a:avLst/>
          </a:prstGeom>
          <a:solidFill>
            <a:srgbClr val="F1F5F9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4480560" y="3941064"/>
            <a:ext cx="1444752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565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{{CHART_VAR}}</a:t>
            </a:r>
            <a:endParaRPr lang="en-US" sz="850" dirty="0"/>
          </a:p>
        </p:txBody>
      </p:sp>
      <p:sp>
        <p:nvSpPr>
          <p:cNvPr id="59" name="Text 57"/>
          <p:cNvSpPr/>
          <p:nvPr/>
        </p:nvSpPr>
        <p:spPr>
          <a:xfrm>
            <a:off x="5989320" y="3941064"/>
            <a:ext cx="1207008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&lt;img&gt; tag</a:t>
            </a:r>
            <a:endParaRPr lang="en-US" sz="900" dirty="0"/>
          </a:p>
        </p:txBody>
      </p:sp>
      <p:sp>
        <p:nvSpPr>
          <p:cNvPr id="60" name="Text 58"/>
          <p:cNvSpPr/>
          <p:nvPr/>
        </p:nvSpPr>
        <p:spPr>
          <a:xfrm>
            <a:off x="7223760" y="3941064"/>
            <a:ext cx="160020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html_template placeholder</a:t>
            </a:r>
            <a:endParaRPr lang="en-US" sz="850" dirty="0"/>
          </a:p>
        </p:txBody>
      </p:sp>
      <p:sp>
        <p:nvSpPr>
          <p:cNvPr id="61" name="Text 59"/>
          <p:cNvSpPr/>
          <p:nvPr/>
        </p:nvSpPr>
        <p:spPr>
          <a:xfrm>
            <a:off x="274320" y="4663440"/>
            <a:ext cx="8595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 filters = "employee_id = '{email_id}' AND month = '{this_month}'"  →  different SQL per recipient, same config row.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02920"/>
          </a:xfrm>
          <a:prstGeom prst="rect">
            <a:avLst/>
          </a:prstGeom>
          <a:solidFill>
            <a:srgbClr val="0F2D54"/>
          </a:solidFill>
          <a:ln w="12700">
            <a:solidFill>
              <a:srgbClr val="0F2D54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82880" cy="502920"/>
          </a:xfrm>
          <a:prstGeom prst="rect">
            <a:avLst/>
          </a:prstGeom>
          <a:solidFill>
            <a:srgbClr val="0891B2"/>
          </a:solidFill>
          <a:ln w="12700">
            <a:solidFill>
              <a:srgbClr val="0891B2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20040" y="0"/>
            <a:ext cx="8503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 Chart Types — All Config-Driven, Available Today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320040" y="502920"/>
            <a:ext cx="8503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 chart_type in chart_config_view — no Python changes needed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0" y="4892040"/>
            <a:ext cx="9144000" cy="256032"/>
          </a:xfrm>
          <a:prstGeom prst="rect">
            <a:avLst/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0" y="4892040"/>
            <a:ext cx="9144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PyViz  ·  Chart Email Engine  ·  Confidential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256032" y="804672"/>
            <a:ext cx="4297680" cy="256032"/>
          </a:xfrm>
          <a:prstGeom prst="rect">
            <a:avLst/>
          </a:prstGeom>
          <a:solidFill>
            <a:srgbClr val="1565C0"/>
          </a:solidFill>
          <a:ln w="12700">
            <a:solidFill>
              <a:srgbClr val="1565C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65760" y="804672"/>
            <a:ext cx="4114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TREND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256032" y="1078992"/>
            <a:ext cx="4297680" cy="512064"/>
          </a:xfrm>
          <a:prstGeom prst="rect">
            <a:avLst/>
          </a:prstGeom>
          <a:solidFill>
            <a:srgbClr val="F1F5F9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256032" y="1078992"/>
            <a:ext cx="45720" cy="512064"/>
          </a:xfrm>
          <a:prstGeom prst="rect">
            <a:avLst/>
          </a:prstGeom>
          <a:solidFill>
            <a:srgbClr val="1565C0">
              <a:alpha val="70000"/>
            </a:srgbClr>
          </a:solidFill>
          <a:ln w="12700">
            <a:solidFill>
              <a:srgbClr val="1565C0">
                <a:alpha val="70000"/>
              </a:srgbClr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84048" y="1115568"/>
            <a:ext cx="1828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Line Chart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2267712" y="1133856"/>
            <a:ext cx="2148840" cy="164592"/>
          </a:xfrm>
          <a:prstGeom prst="rect">
            <a:avLst/>
          </a:prstGeom>
          <a:solidFill>
            <a:srgbClr val="1565C0">
              <a:alpha val="12000"/>
            </a:srgbClr>
          </a:solidFill>
          <a:ln w="12700">
            <a:solidFill>
              <a:srgbClr val="1565C0">
                <a:alpha val="40000"/>
              </a:srgbClr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286000" y="1133856"/>
            <a:ext cx="213055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1565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line_altair</a:t>
            </a:r>
            <a:endParaRPr lang="en-US" sz="750" dirty="0"/>
          </a:p>
        </p:txBody>
      </p:sp>
      <p:sp>
        <p:nvSpPr>
          <p:cNvPr id="15" name="Text 13"/>
          <p:cNvSpPr/>
          <p:nvPr/>
        </p:nvSpPr>
        <p:spPr>
          <a:xfrm>
            <a:off x="384048" y="1335024"/>
            <a:ext cx="4114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Revenue / volume over time. Shows direction, inflection points, seasonality.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256032" y="1609344"/>
            <a:ext cx="4297680" cy="512064"/>
          </a:xfrm>
          <a:prstGeom prst="rect">
            <a:avLst/>
          </a:prstGeom>
          <a:solidFill>
            <a:srgbClr val="F1F5F9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256032" y="1609344"/>
            <a:ext cx="45720" cy="512064"/>
          </a:xfrm>
          <a:prstGeom prst="rect">
            <a:avLst/>
          </a:prstGeom>
          <a:solidFill>
            <a:srgbClr val="1565C0">
              <a:alpha val="70000"/>
            </a:srgbClr>
          </a:solidFill>
          <a:ln w="12700">
            <a:solidFill>
              <a:srgbClr val="1565C0">
                <a:alpha val="70000"/>
              </a:srgbClr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84048" y="1645920"/>
            <a:ext cx="1828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Area Chart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2267712" y="1664208"/>
            <a:ext cx="2148840" cy="164592"/>
          </a:xfrm>
          <a:prstGeom prst="rect">
            <a:avLst/>
          </a:prstGeom>
          <a:solidFill>
            <a:srgbClr val="1565C0">
              <a:alpha val="12000"/>
            </a:srgbClr>
          </a:solidFill>
          <a:ln w="12700">
            <a:solidFill>
              <a:srgbClr val="1565C0">
                <a:alpha val="40000"/>
              </a:srgbClr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286000" y="1664208"/>
            <a:ext cx="213055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1565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area_altair</a:t>
            </a:r>
            <a:endParaRPr lang="en-US" sz="750" dirty="0"/>
          </a:p>
        </p:txBody>
      </p:sp>
      <p:sp>
        <p:nvSpPr>
          <p:cNvPr id="21" name="Text 19"/>
          <p:cNvSpPr/>
          <p:nvPr/>
        </p:nvSpPr>
        <p:spPr>
          <a:xfrm>
            <a:off x="384048" y="1865376"/>
            <a:ext cx="4114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Running totals or cumulative metrics. Fill under the line adds visual weight.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256032" y="2212848"/>
            <a:ext cx="4297680" cy="256032"/>
          </a:xfrm>
          <a:prstGeom prst="rect">
            <a:avLst/>
          </a:prstGeom>
          <a:solidFill>
            <a:srgbClr val="0F2D54"/>
          </a:solidFill>
          <a:ln w="12700">
            <a:solidFill>
              <a:srgbClr val="0F2D54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2212848"/>
            <a:ext cx="4114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COMPARE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256032" y="2487168"/>
            <a:ext cx="4297680" cy="512064"/>
          </a:xfrm>
          <a:prstGeom prst="rect">
            <a:avLst/>
          </a:prstGeom>
          <a:solidFill>
            <a:srgbClr val="F1F5F9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56032" y="2487168"/>
            <a:ext cx="45720" cy="512064"/>
          </a:xfrm>
          <a:prstGeom prst="rect">
            <a:avLst/>
          </a:prstGeom>
          <a:solidFill>
            <a:srgbClr val="0F2D54">
              <a:alpha val="70000"/>
            </a:srgbClr>
          </a:solidFill>
          <a:ln w="12700">
            <a:solidFill>
              <a:srgbClr val="0F2D54">
                <a:alpha val="70000"/>
              </a:srgbClr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84048" y="2523744"/>
            <a:ext cx="1828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Horizontal Bar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2267712" y="2542032"/>
            <a:ext cx="2148840" cy="164592"/>
          </a:xfrm>
          <a:prstGeom prst="rect">
            <a:avLst/>
          </a:prstGeom>
          <a:solidFill>
            <a:srgbClr val="0F2D54">
              <a:alpha val="12000"/>
            </a:srgbClr>
          </a:solidFill>
          <a:ln w="12700">
            <a:solidFill>
              <a:srgbClr val="0F2D54">
                <a:alpha val="40000"/>
              </a:srgbClr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2286000" y="2542032"/>
            <a:ext cx="213055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F2D5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bar_altair</a:t>
            </a:r>
            <a:endParaRPr lang="en-US" sz="750" dirty="0"/>
          </a:p>
        </p:txBody>
      </p:sp>
      <p:sp>
        <p:nvSpPr>
          <p:cNvPr id="29" name="Text 27"/>
          <p:cNvSpPr/>
          <p:nvPr/>
        </p:nvSpPr>
        <p:spPr>
          <a:xfrm>
            <a:off x="384048" y="2743200"/>
            <a:ext cx="4114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Ranked comparison — top products, regions, agents sorted by value.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256032" y="3017520"/>
            <a:ext cx="4297680" cy="512064"/>
          </a:xfrm>
          <a:prstGeom prst="rect">
            <a:avLst/>
          </a:prstGeom>
          <a:solidFill>
            <a:srgbClr val="F1F5F9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56032" y="3017520"/>
            <a:ext cx="45720" cy="512064"/>
          </a:xfrm>
          <a:prstGeom prst="rect">
            <a:avLst/>
          </a:prstGeom>
          <a:solidFill>
            <a:srgbClr val="0F2D54">
              <a:alpha val="70000"/>
            </a:srgbClr>
          </a:solidFill>
          <a:ln w="12700">
            <a:solidFill>
              <a:srgbClr val="0F2D54">
                <a:alpha val="70000"/>
              </a:srgbClr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84048" y="3054096"/>
            <a:ext cx="1828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Grouped Bar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>
            <a:off x="2267712" y="3072384"/>
            <a:ext cx="2148840" cy="164592"/>
          </a:xfrm>
          <a:prstGeom prst="rect">
            <a:avLst/>
          </a:prstGeom>
          <a:solidFill>
            <a:srgbClr val="0F2D54">
              <a:alpha val="12000"/>
            </a:srgbClr>
          </a:solidFill>
          <a:ln w="12700">
            <a:solidFill>
              <a:srgbClr val="0F2D54">
                <a:alpha val="40000"/>
              </a:srgbClr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286000" y="3072384"/>
            <a:ext cx="213055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F2D5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grouped_bar_altair</a:t>
            </a:r>
            <a:endParaRPr lang="en-US" sz="750" dirty="0"/>
          </a:p>
        </p:txBody>
      </p:sp>
      <p:sp>
        <p:nvSpPr>
          <p:cNvPr id="35" name="Text 33"/>
          <p:cNvSpPr/>
          <p:nvPr/>
        </p:nvSpPr>
        <p:spPr>
          <a:xfrm>
            <a:off x="384048" y="3273552"/>
            <a:ext cx="4114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Side-by-side groups — this month vs last month by category.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256032" y="3547872"/>
            <a:ext cx="4297680" cy="512064"/>
          </a:xfrm>
          <a:prstGeom prst="rect">
            <a:avLst/>
          </a:prstGeom>
          <a:solidFill>
            <a:srgbClr val="F1F5F9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256032" y="3547872"/>
            <a:ext cx="45720" cy="512064"/>
          </a:xfrm>
          <a:prstGeom prst="rect">
            <a:avLst/>
          </a:prstGeom>
          <a:solidFill>
            <a:srgbClr val="0F2D54">
              <a:alpha val="70000"/>
            </a:srgbClr>
          </a:solidFill>
          <a:ln w="12700">
            <a:solidFill>
              <a:srgbClr val="0F2D54">
                <a:alpha val="70000"/>
              </a:srgbClr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84048" y="3584448"/>
            <a:ext cx="1828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Stacked Bar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2267712" y="3602736"/>
            <a:ext cx="2148840" cy="164592"/>
          </a:xfrm>
          <a:prstGeom prst="rect">
            <a:avLst/>
          </a:prstGeom>
          <a:solidFill>
            <a:srgbClr val="0F2D54">
              <a:alpha val="12000"/>
            </a:srgbClr>
          </a:solidFill>
          <a:ln w="12700">
            <a:solidFill>
              <a:srgbClr val="0F2D54">
                <a:alpha val="40000"/>
              </a:srgbClr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2286000" y="3602736"/>
            <a:ext cx="213055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F2D5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stacked_bar_altair</a:t>
            </a:r>
            <a:endParaRPr lang="en-US" sz="750" dirty="0"/>
          </a:p>
        </p:txBody>
      </p:sp>
      <p:sp>
        <p:nvSpPr>
          <p:cNvPr id="41" name="Text 39"/>
          <p:cNvSpPr/>
          <p:nvPr/>
        </p:nvSpPr>
        <p:spPr>
          <a:xfrm>
            <a:off x="384048" y="3803904"/>
            <a:ext cx="4114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Part-to-whole across periods — revenue split by product line.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256032" y="4151376"/>
            <a:ext cx="4297680" cy="256032"/>
          </a:xfrm>
          <a:prstGeom prst="rect">
            <a:avLst/>
          </a:prstGeom>
          <a:solidFill>
            <a:srgbClr val="0891B2"/>
          </a:solidFill>
          <a:ln w="12700">
            <a:solidFill>
              <a:srgbClr val="0891B2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365760" y="4151376"/>
            <a:ext cx="4114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PART-TO-WHOLE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256032" y="4425696"/>
            <a:ext cx="4297680" cy="512064"/>
          </a:xfrm>
          <a:prstGeom prst="rect">
            <a:avLst/>
          </a:prstGeom>
          <a:solidFill>
            <a:srgbClr val="F1F5F9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256032" y="4425696"/>
            <a:ext cx="45720" cy="512064"/>
          </a:xfrm>
          <a:prstGeom prst="rect">
            <a:avLst/>
          </a:prstGeom>
          <a:solidFill>
            <a:srgbClr val="0891B2">
              <a:alpha val="70000"/>
            </a:srgbClr>
          </a:solidFill>
          <a:ln w="12700">
            <a:solidFill>
              <a:srgbClr val="0891B2">
                <a:alpha val="70000"/>
              </a:srgbClr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384048" y="4462272"/>
            <a:ext cx="1828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 / Pie / Donut</a:t>
            </a:r>
            <a:endParaRPr lang="en-US" sz="1000" dirty="0"/>
          </a:p>
        </p:txBody>
      </p:sp>
      <p:sp>
        <p:nvSpPr>
          <p:cNvPr id="47" name="Shape 45"/>
          <p:cNvSpPr/>
          <p:nvPr/>
        </p:nvSpPr>
        <p:spPr>
          <a:xfrm>
            <a:off x="2267712" y="4480560"/>
            <a:ext cx="2148840" cy="164592"/>
          </a:xfrm>
          <a:prstGeom prst="rect">
            <a:avLst/>
          </a:prstGeom>
          <a:solidFill>
            <a:srgbClr val="0891B2">
              <a:alpha val="12000"/>
            </a:srgbClr>
          </a:solidFill>
          <a:ln w="12700">
            <a:solidFill>
              <a:srgbClr val="0891B2">
                <a:alpha val="40000"/>
              </a:srgbClr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2286000" y="4480560"/>
            <a:ext cx="213055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891B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arc_altair</a:t>
            </a:r>
            <a:endParaRPr lang="en-US" sz="750" dirty="0"/>
          </a:p>
        </p:txBody>
      </p:sp>
      <p:sp>
        <p:nvSpPr>
          <p:cNvPr id="49" name="Text 47"/>
          <p:cNvSpPr/>
          <p:nvPr/>
        </p:nvSpPr>
        <p:spPr>
          <a:xfrm>
            <a:off x="384048" y="4681728"/>
            <a:ext cx="4114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Market share, revenue mix by region — proportion at a glance.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256032" y="4956048"/>
            <a:ext cx="4297680" cy="512064"/>
          </a:xfrm>
          <a:prstGeom prst="rect">
            <a:avLst/>
          </a:prstGeom>
          <a:solidFill>
            <a:srgbClr val="F1F5F9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256032" y="4956048"/>
            <a:ext cx="45720" cy="512064"/>
          </a:xfrm>
          <a:prstGeom prst="rect">
            <a:avLst/>
          </a:prstGeom>
          <a:solidFill>
            <a:srgbClr val="0891B2">
              <a:alpha val="70000"/>
            </a:srgbClr>
          </a:solidFill>
          <a:ln w="12700">
            <a:solidFill>
              <a:srgbClr val="0891B2">
                <a:alpha val="70000"/>
              </a:srgbClr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384048" y="4992624"/>
            <a:ext cx="1828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Funnel</a:t>
            </a:r>
            <a:endParaRPr lang="en-US" sz="1000" dirty="0"/>
          </a:p>
        </p:txBody>
      </p:sp>
      <p:sp>
        <p:nvSpPr>
          <p:cNvPr id="53" name="Shape 51"/>
          <p:cNvSpPr/>
          <p:nvPr/>
        </p:nvSpPr>
        <p:spPr>
          <a:xfrm>
            <a:off x="2267712" y="5010912"/>
            <a:ext cx="2148840" cy="164592"/>
          </a:xfrm>
          <a:prstGeom prst="rect">
            <a:avLst/>
          </a:prstGeom>
          <a:solidFill>
            <a:srgbClr val="0891B2">
              <a:alpha val="12000"/>
            </a:srgbClr>
          </a:solidFill>
          <a:ln w="12700">
            <a:solidFill>
              <a:srgbClr val="0891B2">
                <a:alpha val="40000"/>
              </a:srgbClr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2286000" y="5010912"/>
            <a:ext cx="213055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891B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funnel_altair</a:t>
            </a:r>
            <a:endParaRPr lang="en-US" sz="750" dirty="0"/>
          </a:p>
        </p:txBody>
      </p:sp>
      <p:sp>
        <p:nvSpPr>
          <p:cNvPr id="55" name="Text 53"/>
          <p:cNvSpPr/>
          <p:nvPr/>
        </p:nvSpPr>
        <p:spPr>
          <a:xfrm>
            <a:off x="384048" y="5212080"/>
            <a:ext cx="4114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Conversion pipeline — Lead → Opportunity → Closed. Drop-off visible instantly.</a:t>
            </a:r>
            <a:endParaRPr lang="en-US" sz="900" dirty="0"/>
          </a:p>
        </p:txBody>
      </p:sp>
      <p:sp>
        <p:nvSpPr>
          <p:cNvPr id="56" name="Shape 54"/>
          <p:cNvSpPr/>
          <p:nvPr/>
        </p:nvSpPr>
        <p:spPr>
          <a:xfrm>
            <a:off x="4681728" y="804672"/>
            <a:ext cx="4297680" cy="25603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4791456" y="804672"/>
            <a:ext cx="4114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RELATION &amp; DISTRIBUTION</a:t>
            </a:r>
            <a:endParaRPr lang="en-US" sz="900" dirty="0"/>
          </a:p>
        </p:txBody>
      </p:sp>
      <p:sp>
        <p:nvSpPr>
          <p:cNvPr id="58" name="Shape 56"/>
          <p:cNvSpPr/>
          <p:nvPr/>
        </p:nvSpPr>
        <p:spPr>
          <a:xfrm>
            <a:off x="4681728" y="1078992"/>
            <a:ext cx="4297680" cy="512064"/>
          </a:xfrm>
          <a:prstGeom prst="rect">
            <a:avLst/>
          </a:prstGeom>
          <a:solidFill>
            <a:srgbClr val="F1F5F9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4681728" y="1078992"/>
            <a:ext cx="45720" cy="512064"/>
          </a:xfrm>
          <a:prstGeom prst="rect">
            <a:avLst/>
          </a:prstGeom>
          <a:solidFill>
            <a:srgbClr val="0D9488">
              <a:alpha val="70000"/>
            </a:srgbClr>
          </a:solidFill>
          <a:ln w="12700">
            <a:solidFill>
              <a:srgbClr val="0D9488">
                <a:alpha val="70000"/>
              </a:srgbClr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4809744" y="1115568"/>
            <a:ext cx="1828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Bubble Scatter</a:t>
            </a:r>
            <a:endParaRPr lang="en-US" sz="1000" dirty="0"/>
          </a:p>
        </p:txBody>
      </p:sp>
      <p:sp>
        <p:nvSpPr>
          <p:cNvPr id="61" name="Shape 59"/>
          <p:cNvSpPr/>
          <p:nvPr/>
        </p:nvSpPr>
        <p:spPr>
          <a:xfrm>
            <a:off x="6693408" y="1133856"/>
            <a:ext cx="2148840" cy="164592"/>
          </a:xfrm>
          <a:prstGeom prst="rect">
            <a:avLst/>
          </a:prstGeom>
          <a:solidFill>
            <a:srgbClr val="0D9488">
              <a:alpha val="12000"/>
            </a:srgbClr>
          </a:solidFill>
          <a:ln w="12700">
            <a:solidFill>
              <a:srgbClr val="0D9488">
                <a:alpha val="40000"/>
              </a:srgbClr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6711696" y="1133856"/>
            <a:ext cx="213055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D94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scatter_altair</a:t>
            </a:r>
            <a:endParaRPr lang="en-US" sz="750" dirty="0"/>
          </a:p>
        </p:txBody>
      </p:sp>
      <p:sp>
        <p:nvSpPr>
          <p:cNvPr id="63" name="Text 61"/>
          <p:cNvSpPr/>
          <p:nvPr/>
        </p:nvSpPr>
        <p:spPr>
          <a:xfrm>
            <a:off x="4809744" y="1335024"/>
            <a:ext cx="4114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Correlation with size encoding — cost vs revenue, sized by volume.</a:t>
            </a:r>
            <a:endParaRPr lang="en-US" sz="900" dirty="0"/>
          </a:p>
        </p:txBody>
      </p:sp>
      <p:sp>
        <p:nvSpPr>
          <p:cNvPr id="64" name="Shape 62"/>
          <p:cNvSpPr/>
          <p:nvPr/>
        </p:nvSpPr>
        <p:spPr>
          <a:xfrm>
            <a:off x="4681728" y="1609344"/>
            <a:ext cx="4297680" cy="512064"/>
          </a:xfrm>
          <a:prstGeom prst="rect">
            <a:avLst/>
          </a:prstGeom>
          <a:solidFill>
            <a:srgbClr val="F1F5F9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65" name="Shape 63"/>
          <p:cNvSpPr/>
          <p:nvPr/>
        </p:nvSpPr>
        <p:spPr>
          <a:xfrm>
            <a:off x="4681728" y="1609344"/>
            <a:ext cx="45720" cy="512064"/>
          </a:xfrm>
          <a:prstGeom prst="rect">
            <a:avLst/>
          </a:prstGeom>
          <a:solidFill>
            <a:srgbClr val="0D9488">
              <a:alpha val="70000"/>
            </a:srgbClr>
          </a:solidFill>
          <a:ln w="12700">
            <a:solidFill>
              <a:srgbClr val="0D9488">
                <a:alpha val="70000"/>
              </a:srgbClr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4809744" y="1645920"/>
            <a:ext cx="1828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Heatmap</a:t>
            </a:r>
            <a:endParaRPr lang="en-US" sz="1000" dirty="0"/>
          </a:p>
        </p:txBody>
      </p:sp>
      <p:sp>
        <p:nvSpPr>
          <p:cNvPr id="67" name="Shape 65"/>
          <p:cNvSpPr/>
          <p:nvPr/>
        </p:nvSpPr>
        <p:spPr>
          <a:xfrm>
            <a:off x="6693408" y="1664208"/>
            <a:ext cx="2148840" cy="164592"/>
          </a:xfrm>
          <a:prstGeom prst="rect">
            <a:avLst/>
          </a:prstGeom>
          <a:solidFill>
            <a:srgbClr val="0D9488">
              <a:alpha val="12000"/>
            </a:srgbClr>
          </a:solidFill>
          <a:ln w="12700">
            <a:solidFill>
              <a:srgbClr val="0D9488">
                <a:alpha val="40000"/>
              </a:srgbClr>
            </a:solidFill>
            <a:prstDash val="solid"/>
          </a:ln>
        </p:spPr>
      </p:sp>
      <p:sp>
        <p:nvSpPr>
          <p:cNvPr id="68" name="Text 66"/>
          <p:cNvSpPr/>
          <p:nvPr/>
        </p:nvSpPr>
        <p:spPr>
          <a:xfrm>
            <a:off x="6711696" y="1664208"/>
            <a:ext cx="213055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D94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heatmap_altair</a:t>
            </a:r>
            <a:endParaRPr lang="en-US" sz="750" dirty="0"/>
          </a:p>
        </p:txBody>
      </p:sp>
      <p:sp>
        <p:nvSpPr>
          <p:cNvPr id="69" name="Text 67"/>
          <p:cNvSpPr/>
          <p:nvPr/>
        </p:nvSpPr>
        <p:spPr>
          <a:xfrm>
            <a:off x="4809744" y="1865376"/>
            <a:ext cx="4114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2-D intensity grid — day × hour activity, product × month performance.</a:t>
            </a:r>
            <a:endParaRPr lang="en-US" sz="900" dirty="0"/>
          </a:p>
        </p:txBody>
      </p:sp>
      <p:sp>
        <p:nvSpPr>
          <p:cNvPr id="70" name="Shape 68"/>
          <p:cNvSpPr/>
          <p:nvPr/>
        </p:nvSpPr>
        <p:spPr>
          <a:xfrm>
            <a:off x="4681728" y="2139696"/>
            <a:ext cx="4297680" cy="512064"/>
          </a:xfrm>
          <a:prstGeom prst="rect">
            <a:avLst/>
          </a:prstGeom>
          <a:solidFill>
            <a:srgbClr val="F1F5F9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71" name="Shape 69"/>
          <p:cNvSpPr/>
          <p:nvPr/>
        </p:nvSpPr>
        <p:spPr>
          <a:xfrm>
            <a:off x="4681728" y="2139696"/>
            <a:ext cx="45720" cy="512064"/>
          </a:xfrm>
          <a:prstGeom prst="rect">
            <a:avLst/>
          </a:prstGeom>
          <a:solidFill>
            <a:srgbClr val="0D9488">
              <a:alpha val="70000"/>
            </a:srgbClr>
          </a:solidFill>
          <a:ln w="12700">
            <a:solidFill>
              <a:srgbClr val="0D9488">
                <a:alpha val="70000"/>
              </a:srgbClr>
            </a:solidFill>
            <a:prstDash val="solid"/>
          </a:ln>
        </p:spPr>
      </p:sp>
      <p:sp>
        <p:nvSpPr>
          <p:cNvPr id="72" name="Text 70"/>
          <p:cNvSpPr/>
          <p:nvPr/>
        </p:nvSpPr>
        <p:spPr>
          <a:xfrm>
            <a:off x="4809744" y="2176272"/>
            <a:ext cx="1828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Strip Plot</a:t>
            </a:r>
            <a:endParaRPr lang="en-US" sz="1000" dirty="0"/>
          </a:p>
        </p:txBody>
      </p:sp>
      <p:sp>
        <p:nvSpPr>
          <p:cNvPr id="73" name="Shape 71"/>
          <p:cNvSpPr/>
          <p:nvPr/>
        </p:nvSpPr>
        <p:spPr>
          <a:xfrm>
            <a:off x="6693408" y="2194560"/>
            <a:ext cx="2148840" cy="164592"/>
          </a:xfrm>
          <a:prstGeom prst="rect">
            <a:avLst/>
          </a:prstGeom>
          <a:solidFill>
            <a:srgbClr val="0D9488">
              <a:alpha val="12000"/>
            </a:srgbClr>
          </a:solidFill>
          <a:ln w="12700">
            <a:solidFill>
              <a:srgbClr val="0D9488">
                <a:alpha val="40000"/>
              </a:srgbClr>
            </a:solidFill>
            <a:prstDash val="solid"/>
          </a:ln>
        </p:spPr>
      </p:sp>
      <p:sp>
        <p:nvSpPr>
          <p:cNvPr id="74" name="Text 72"/>
          <p:cNvSpPr/>
          <p:nvPr/>
        </p:nvSpPr>
        <p:spPr>
          <a:xfrm>
            <a:off x="6711696" y="2194560"/>
            <a:ext cx="213055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D94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strip_altair</a:t>
            </a:r>
            <a:endParaRPr lang="en-US" sz="750" dirty="0"/>
          </a:p>
        </p:txBody>
      </p:sp>
      <p:sp>
        <p:nvSpPr>
          <p:cNvPr id="75" name="Text 73"/>
          <p:cNvSpPr/>
          <p:nvPr/>
        </p:nvSpPr>
        <p:spPr>
          <a:xfrm>
            <a:off x="4809744" y="2395728"/>
            <a:ext cx="4114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Individual data points per group — spot outliers, see spread.</a:t>
            </a:r>
            <a:endParaRPr lang="en-US" sz="900" dirty="0"/>
          </a:p>
        </p:txBody>
      </p:sp>
      <p:sp>
        <p:nvSpPr>
          <p:cNvPr id="76" name="Shape 74"/>
          <p:cNvSpPr/>
          <p:nvPr/>
        </p:nvSpPr>
        <p:spPr>
          <a:xfrm>
            <a:off x="4681728" y="2670048"/>
            <a:ext cx="4297680" cy="512064"/>
          </a:xfrm>
          <a:prstGeom prst="rect">
            <a:avLst/>
          </a:prstGeom>
          <a:solidFill>
            <a:srgbClr val="F1F5F9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77" name="Shape 75"/>
          <p:cNvSpPr/>
          <p:nvPr/>
        </p:nvSpPr>
        <p:spPr>
          <a:xfrm>
            <a:off x="4681728" y="2670048"/>
            <a:ext cx="45720" cy="512064"/>
          </a:xfrm>
          <a:prstGeom prst="rect">
            <a:avLst/>
          </a:prstGeom>
          <a:solidFill>
            <a:srgbClr val="0D9488">
              <a:alpha val="70000"/>
            </a:srgbClr>
          </a:solidFill>
          <a:ln w="12700">
            <a:solidFill>
              <a:srgbClr val="0D9488">
                <a:alpha val="70000"/>
              </a:srgbClr>
            </a:solidFill>
            <a:prstDash val="solid"/>
          </a:ln>
        </p:spPr>
      </p:sp>
      <p:sp>
        <p:nvSpPr>
          <p:cNvPr id="78" name="Text 76"/>
          <p:cNvSpPr/>
          <p:nvPr/>
        </p:nvSpPr>
        <p:spPr>
          <a:xfrm>
            <a:off x="4809744" y="2706624"/>
            <a:ext cx="1828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Box Plot</a:t>
            </a:r>
            <a:endParaRPr lang="en-US" sz="1000" dirty="0"/>
          </a:p>
        </p:txBody>
      </p:sp>
      <p:sp>
        <p:nvSpPr>
          <p:cNvPr id="79" name="Shape 77"/>
          <p:cNvSpPr/>
          <p:nvPr/>
        </p:nvSpPr>
        <p:spPr>
          <a:xfrm>
            <a:off x="6693408" y="2724912"/>
            <a:ext cx="2148840" cy="164592"/>
          </a:xfrm>
          <a:prstGeom prst="rect">
            <a:avLst/>
          </a:prstGeom>
          <a:solidFill>
            <a:srgbClr val="0D9488">
              <a:alpha val="12000"/>
            </a:srgbClr>
          </a:solidFill>
          <a:ln w="12700">
            <a:solidFill>
              <a:srgbClr val="0D9488">
                <a:alpha val="40000"/>
              </a:srgbClr>
            </a:solidFill>
            <a:prstDash val="solid"/>
          </a:ln>
        </p:spPr>
      </p:sp>
      <p:sp>
        <p:nvSpPr>
          <p:cNvPr id="80" name="Text 78"/>
          <p:cNvSpPr/>
          <p:nvPr/>
        </p:nvSpPr>
        <p:spPr>
          <a:xfrm>
            <a:off x="6711696" y="2724912"/>
            <a:ext cx="213055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D94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boxplot_altair</a:t>
            </a:r>
            <a:endParaRPr lang="en-US" sz="750" dirty="0"/>
          </a:p>
        </p:txBody>
      </p:sp>
      <p:sp>
        <p:nvSpPr>
          <p:cNvPr id="81" name="Text 79"/>
          <p:cNvSpPr/>
          <p:nvPr/>
        </p:nvSpPr>
        <p:spPr>
          <a:xfrm>
            <a:off x="4809744" y="2926080"/>
            <a:ext cx="4114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Statistical spread — median, quartiles, outliers for NPS or SLA data.</a:t>
            </a:r>
            <a:endParaRPr lang="en-US" sz="900" dirty="0"/>
          </a:p>
        </p:txBody>
      </p:sp>
      <p:sp>
        <p:nvSpPr>
          <p:cNvPr id="82" name="Shape 80"/>
          <p:cNvSpPr/>
          <p:nvPr/>
        </p:nvSpPr>
        <p:spPr>
          <a:xfrm>
            <a:off x="4681728" y="3273552"/>
            <a:ext cx="4297680" cy="256032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83" name="Text 81"/>
          <p:cNvSpPr/>
          <p:nvPr/>
        </p:nvSpPr>
        <p:spPr>
          <a:xfrm>
            <a:off x="4791456" y="3273552"/>
            <a:ext cx="4114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KPI</a:t>
            </a:r>
            <a:endParaRPr lang="en-US" sz="900" dirty="0"/>
          </a:p>
        </p:txBody>
      </p:sp>
      <p:sp>
        <p:nvSpPr>
          <p:cNvPr id="84" name="Shape 82"/>
          <p:cNvSpPr/>
          <p:nvPr/>
        </p:nvSpPr>
        <p:spPr>
          <a:xfrm>
            <a:off x="4681728" y="3547872"/>
            <a:ext cx="4297680" cy="512064"/>
          </a:xfrm>
          <a:prstGeom prst="rect">
            <a:avLst/>
          </a:prstGeom>
          <a:solidFill>
            <a:srgbClr val="F1F5F9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85" name="Shape 83"/>
          <p:cNvSpPr/>
          <p:nvPr/>
        </p:nvSpPr>
        <p:spPr>
          <a:xfrm>
            <a:off x="4681728" y="3547872"/>
            <a:ext cx="45720" cy="512064"/>
          </a:xfrm>
          <a:prstGeom prst="rect">
            <a:avLst/>
          </a:prstGeom>
          <a:solidFill>
            <a:srgbClr val="D97706">
              <a:alpha val="70000"/>
            </a:srgbClr>
          </a:solidFill>
          <a:ln w="12700">
            <a:solidFill>
              <a:srgbClr val="D97706">
                <a:alpha val="70000"/>
              </a:srgbClr>
            </a:solidFill>
            <a:prstDash val="solid"/>
          </a:ln>
        </p:spPr>
      </p:sp>
      <p:sp>
        <p:nvSpPr>
          <p:cNvPr id="86" name="Text 84"/>
          <p:cNvSpPr/>
          <p:nvPr/>
        </p:nvSpPr>
        <p:spPr>
          <a:xfrm>
            <a:off x="4809744" y="3584448"/>
            <a:ext cx="1828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Metric Card</a:t>
            </a:r>
            <a:endParaRPr lang="en-US" sz="1000" dirty="0"/>
          </a:p>
        </p:txBody>
      </p:sp>
      <p:sp>
        <p:nvSpPr>
          <p:cNvPr id="87" name="Shape 85"/>
          <p:cNvSpPr/>
          <p:nvPr/>
        </p:nvSpPr>
        <p:spPr>
          <a:xfrm>
            <a:off x="6693408" y="3602736"/>
            <a:ext cx="2148840" cy="164592"/>
          </a:xfrm>
          <a:prstGeom prst="rect">
            <a:avLst/>
          </a:prstGeom>
          <a:solidFill>
            <a:srgbClr val="D97706">
              <a:alpha val="12000"/>
            </a:srgbClr>
          </a:solidFill>
          <a:ln w="12700">
            <a:solidFill>
              <a:srgbClr val="D97706">
                <a:alpha val="40000"/>
              </a:srgbClr>
            </a:solidFill>
            <a:prstDash val="solid"/>
          </a:ln>
        </p:spPr>
      </p:sp>
      <p:sp>
        <p:nvSpPr>
          <p:cNvPr id="88" name="Text 86"/>
          <p:cNvSpPr/>
          <p:nvPr/>
        </p:nvSpPr>
        <p:spPr>
          <a:xfrm>
            <a:off x="6711696" y="3602736"/>
            <a:ext cx="213055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D9770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metric_card</a:t>
            </a:r>
            <a:endParaRPr lang="en-US" sz="750" dirty="0"/>
          </a:p>
        </p:txBody>
      </p:sp>
      <p:sp>
        <p:nvSpPr>
          <p:cNvPr id="89" name="Text 87"/>
          <p:cNvSpPr/>
          <p:nvPr/>
        </p:nvSpPr>
        <p:spPr>
          <a:xfrm>
            <a:off x="4809744" y="3803904"/>
            <a:ext cx="4114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Single headline KPI — Total ARR, MoM % change, with trend indicator.</a:t>
            </a:r>
            <a:endParaRPr lang="en-US" sz="900" dirty="0"/>
          </a:p>
        </p:txBody>
      </p:sp>
      <p:sp>
        <p:nvSpPr>
          <p:cNvPr id="90" name="Shape 88"/>
          <p:cNvSpPr/>
          <p:nvPr/>
        </p:nvSpPr>
        <p:spPr>
          <a:xfrm>
            <a:off x="4681728" y="4078224"/>
            <a:ext cx="4297680" cy="512064"/>
          </a:xfrm>
          <a:prstGeom prst="rect">
            <a:avLst/>
          </a:prstGeom>
          <a:solidFill>
            <a:srgbClr val="F1F5F9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91" name="Shape 89"/>
          <p:cNvSpPr/>
          <p:nvPr/>
        </p:nvSpPr>
        <p:spPr>
          <a:xfrm>
            <a:off x="4681728" y="4078224"/>
            <a:ext cx="45720" cy="512064"/>
          </a:xfrm>
          <a:prstGeom prst="rect">
            <a:avLst/>
          </a:prstGeom>
          <a:solidFill>
            <a:srgbClr val="D97706">
              <a:alpha val="70000"/>
            </a:srgbClr>
          </a:solidFill>
          <a:ln w="12700">
            <a:solidFill>
              <a:srgbClr val="D97706">
                <a:alpha val="70000"/>
              </a:srgbClr>
            </a:solidFill>
            <a:prstDash val="solid"/>
          </a:ln>
        </p:spPr>
      </p:sp>
      <p:sp>
        <p:nvSpPr>
          <p:cNvPr id="92" name="Text 90"/>
          <p:cNvSpPr/>
          <p:nvPr/>
        </p:nvSpPr>
        <p:spPr>
          <a:xfrm>
            <a:off x="4809744" y="4114800"/>
            <a:ext cx="1828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Bullet Chart</a:t>
            </a:r>
            <a:endParaRPr lang="en-US" sz="1000" dirty="0"/>
          </a:p>
        </p:txBody>
      </p:sp>
      <p:sp>
        <p:nvSpPr>
          <p:cNvPr id="93" name="Shape 91"/>
          <p:cNvSpPr/>
          <p:nvPr/>
        </p:nvSpPr>
        <p:spPr>
          <a:xfrm>
            <a:off x="6693408" y="4133088"/>
            <a:ext cx="2148840" cy="164592"/>
          </a:xfrm>
          <a:prstGeom prst="rect">
            <a:avLst/>
          </a:prstGeom>
          <a:solidFill>
            <a:srgbClr val="D97706">
              <a:alpha val="12000"/>
            </a:srgbClr>
          </a:solidFill>
          <a:ln w="12700">
            <a:solidFill>
              <a:srgbClr val="D97706">
                <a:alpha val="40000"/>
              </a:srgbClr>
            </a:solidFill>
            <a:prstDash val="solid"/>
          </a:ln>
        </p:spPr>
      </p:sp>
      <p:sp>
        <p:nvSpPr>
          <p:cNvPr id="94" name="Text 92"/>
          <p:cNvSpPr/>
          <p:nvPr/>
        </p:nvSpPr>
        <p:spPr>
          <a:xfrm>
            <a:off x="6711696" y="4133088"/>
            <a:ext cx="213055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D9770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bullet_altair</a:t>
            </a:r>
            <a:endParaRPr lang="en-US" sz="750" dirty="0"/>
          </a:p>
        </p:txBody>
      </p:sp>
      <p:sp>
        <p:nvSpPr>
          <p:cNvPr id="95" name="Text 93"/>
          <p:cNvSpPr/>
          <p:nvPr/>
        </p:nvSpPr>
        <p:spPr>
          <a:xfrm>
            <a:off x="4809744" y="4334256"/>
            <a:ext cx="4114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Actual vs target vs tolerance band — sales attainment at a glance.</a:t>
            </a:r>
            <a:endParaRPr lang="en-US" sz="900" dirty="0"/>
          </a:p>
        </p:txBody>
      </p:sp>
      <p:sp>
        <p:nvSpPr>
          <p:cNvPr id="96" name="Shape 94"/>
          <p:cNvSpPr/>
          <p:nvPr/>
        </p:nvSpPr>
        <p:spPr>
          <a:xfrm>
            <a:off x="4681728" y="4681728"/>
            <a:ext cx="4297680" cy="256032"/>
          </a:xfrm>
          <a:prstGeom prst="rect">
            <a:avLst/>
          </a:prstGeom>
          <a:solidFill>
            <a:srgbClr val="475569"/>
          </a:solidFill>
          <a:ln w="12700">
            <a:solidFill>
              <a:srgbClr val="475569"/>
            </a:solidFill>
            <a:prstDash val="solid"/>
          </a:ln>
        </p:spPr>
      </p:sp>
      <p:sp>
        <p:nvSpPr>
          <p:cNvPr id="97" name="Text 95"/>
          <p:cNvSpPr/>
          <p:nvPr/>
        </p:nvSpPr>
        <p:spPr>
          <a:xfrm>
            <a:off x="4791456" y="4681728"/>
            <a:ext cx="4114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DETAIL</a:t>
            </a:r>
            <a:endParaRPr lang="en-US" sz="900" dirty="0"/>
          </a:p>
        </p:txBody>
      </p:sp>
      <p:sp>
        <p:nvSpPr>
          <p:cNvPr id="98" name="Shape 96"/>
          <p:cNvSpPr/>
          <p:nvPr/>
        </p:nvSpPr>
        <p:spPr>
          <a:xfrm>
            <a:off x="4681728" y="4956048"/>
            <a:ext cx="4297680" cy="512064"/>
          </a:xfrm>
          <a:prstGeom prst="rect">
            <a:avLst/>
          </a:prstGeom>
          <a:solidFill>
            <a:srgbClr val="F1F5F9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99" name="Shape 97"/>
          <p:cNvSpPr/>
          <p:nvPr/>
        </p:nvSpPr>
        <p:spPr>
          <a:xfrm>
            <a:off x="4681728" y="4956048"/>
            <a:ext cx="45720" cy="512064"/>
          </a:xfrm>
          <a:prstGeom prst="rect">
            <a:avLst/>
          </a:prstGeom>
          <a:solidFill>
            <a:srgbClr val="475569">
              <a:alpha val="70000"/>
            </a:srgbClr>
          </a:solidFill>
          <a:ln w="12700">
            <a:solidFill>
              <a:srgbClr val="475569">
                <a:alpha val="70000"/>
              </a:srgbClr>
            </a:solidFill>
            <a:prstDash val="solid"/>
          </a:ln>
        </p:spPr>
      </p:sp>
      <p:sp>
        <p:nvSpPr>
          <p:cNvPr id="100" name="Text 98"/>
          <p:cNvSpPr/>
          <p:nvPr/>
        </p:nvSpPr>
        <p:spPr>
          <a:xfrm>
            <a:off x="4809744" y="4992624"/>
            <a:ext cx="1828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Table</a:t>
            </a:r>
            <a:endParaRPr lang="en-US" sz="1000" dirty="0"/>
          </a:p>
        </p:txBody>
      </p:sp>
      <p:sp>
        <p:nvSpPr>
          <p:cNvPr id="101" name="Shape 99"/>
          <p:cNvSpPr/>
          <p:nvPr/>
        </p:nvSpPr>
        <p:spPr>
          <a:xfrm>
            <a:off x="6693408" y="5010912"/>
            <a:ext cx="2148840" cy="164592"/>
          </a:xfrm>
          <a:prstGeom prst="rect">
            <a:avLst/>
          </a:prstGeom>
          <a:solidFill>
            <a:srgbClr val="475569">
              <a:alpha val="12000"/>
            </a:srgbClr>
          </a:solidFill>
          <a:ln w="12700">
            <a:solidFill>
              <a:srgbClr val="475569">
                <a:alpha val="40000"/>
              </a:srgbClr>
            </a:solidFill>
            <a:prstDash val="solid"/>
          </a:ln>
        </p:spPr>
      </p:sp>
      <p:sp>
        <p:nvSpPr>
          <p:cNvPr id="102" name="Text 100"/>
          <p:cNvSpPr/>
          <p:nvPr/>
        </p:nvSpPr>
        <p:spPr>
          <a:xfrm>
            <a:off x="6711696" y="5010912"/>
            <a:ext cx="213055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47556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table_chart</a:t>
            </a:r>
            <a:endParaRPr lang="en-US" sz="750" dirty="0"/>
          </a:p>
        </p:txBody>
      </p:sp>
      <p:sp>
        <p:nvSpPr>
          <p:cNvPr id="103" name="Text 101"/>
          <p:cNvSpPr/>
          <p:nvPr/>
        </p:nvSpPr>
        <p:spPr>
          <a:xfrm>
            <a:off x="4809744" y="5212080"/>
            <a:ext cx="4114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Formatted grid — Top 10 accounts, drill-down breakdowns, ranked lists.</a:t>
            </a:r>
            <a:endParaRPr lang="en-US" sz="900" dirty="0"/>
          </a:p>
        </p:txBody>
      </p:sp>
      <p:sp>
        <p:nvSpPr>
          <p:cNvPr id="104" name="Shape 102"/>
          <p:cNvSpPr/>
          <p:nvPr/>
        </p:nvSpPr>
        <p:spPr>
          <a:xfrm>
            <a:off x="4617720" y="804672"/>
            <a:ext cx="0" cy="402336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02920"/>
          </a:xfrm>
          <a:prstGeom prst="rect">
            <a:avLst/>
          </a:prstGeom>
          <a:solidFill>
            <a:srgbClr val="0F2D54"/>
          </a:solidFill>
          <a:ln w="12700">
            <a:solidFill>
              <a:srgbClr val="0F2D54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82880" cy="502920"/>
          </a:xfrm>
          <a:prstGeom prst="rect">
            <a:avLst/>
          </a:prstGeom>
          <a:solidFill>
            <a:srgbClr val="0891B2"/>
          </a:solidFill>
          <a:ln w="12700">
            <a:solidFill>
              <a:srgbClr val="0891B2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20040" y="0"/>
            <a:ext cx="8503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Improving Report Storytelling — Before vs After PyViz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320040" y="502920"/>
            <a:ext cx="8503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data source, completely different insight — charts answer questions tables cannot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0" y="4892040"/>
            <a:ext cx="9144000" cy="256032"/>
          </a:xfrm>
          <a:prstGeom prst="rect">
            <a:avLst/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0" y="4892040"/>
            <a:ext cx="9144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PyViz  ·  Chart Email Engine  ·  Confidential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228600" y="804672"/>
            <a:ext cx="2834640" cy="310896"/>
          </a:xfrm>
          <a:prstGeom prst="rect">
            <a:avLst/>
          </a:prstGeom>
          <a:solidFill>
            <a:srgbClr val="0F2D54"/>
          </a:solidFill>
          <a:ln w="12700">
            <a:solidFill>
              <a:srgbClr val="0F2D54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127248" y="804672"/>
            <a:ext cx="2743200" cy="310896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943600" y="804672"/>
            <a:ext cx="2971800" cy="310896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274320" y="804672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 from Management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3172968" y="804672"/>
            <a:ext cx="2651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 — HTML Table Only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5989320" y="804672"/>
            <a:ext cx="2880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After — With PyViz Chart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228600" y="1161288"/>
            <a:ext cx="8686800" cy="612648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228600" y="1161288"/>
            <a:ext cx="54864" cy="612648"/>
          </a:xfrm>
          <a:prstGeom prst="rect">
            <a:avLst/>
          </a:prstGeom>
          <a:solidFill>
            <a:srgbClr val="1565C0"/>
          </a:solidFill>
          <a:ln w="12700">
            <a:solidFill>
              <a:srgbClr val="1565C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47472" y="1207008"/>
            <a:ext cx="2715768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 revenue growing or declining?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090672" y="1161288"/>
            <a:ext cx="0" cy="612648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5916168" y="1161288"/>
            <a:ext cx="0" cy="612648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154680" y="1216152"/>
            <a:ext cx="2670048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 12 monthly numbers in a column. Reader must spot the trend manually.</a:t>
            </a:r>
            <a:endParaRPr lang="en-US" sz="950" dirty="0"/>
          </a:p>
        </p:txBody>
      </p:sp>
      <p:sp>
        <p:nvSpPr>
          <p:cNvPr id="20" name="Text 18"/>
          <p:cNvSpPr/>
          <p:nvPr/>
        </p:nvSpPr>
        <p:spPr>
          <a:xfrm>
            <a:off x="5989320" y="1216152"/>
            <a:ext cx="2852928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6A3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line_altair — trend line shows direction, inflection points and seasonality instantly.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>
            <a:off x="228600" y="1810512"/>
            <a:ext cx="8686800" cy="612648"/>
          </a:xfrm>
          <a:prstGeom prst="rect">
            <a:avLst/>
          </a:prstGeom>
          <a:solidFill>
            <a:srgbClr val="F1F5F9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28600" y="1810512"/>
            <a:ext cx="54864" cy="612648"/>
          </a:xfrm>
          <a:prstGeom prst="rect">
            <a:avLst/>
          </a:prstGeom>
          <a:solidFill>
            <a:srgbClr val="0891B2"/>
          </a:solidFill>
          <a:ln w="12700">
            <a:solidFill>
              <a:srgbClr val="0891B2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47472" y="1856232"/>
            <a:ext cx="2715768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891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Which region contributes most?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3090672" y="1810512"/>
            <a:ext cx="0" cy="612648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5916168" y="1810512"/>
            <a:ext cx="0" cy="612648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154680" y="1865376"/>
            <a:ext cx="2670048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 % column with 8 rows. Reader must mentally compare proportions.</a:t>
            </a:r>
            <a:endParaRPr lang="en-US" sz="950" dirty="0"/>
          </a:p>
        </p:txBody>
      </p:sp>
      <p:sp>
        <p:nvSpPr>
          <p:cNvPr id="27" name="Text 25"/>
          <p:cNvSpPr/>
          <p:nvPr/>
        </p:nvSpPr>
        <p:spPr>
          <a:xfrm>
            <a:off x="5989320" y="1865376"/>
            <a:ext cx="2852928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6A3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arc_altair (donut) — each segment is sized by share. Winner is obvious.</a:t>
            </a:r>
            <a:endParaRPr lang="en-US" sz="950" dirty="0"/>
          </a:p>
        </p:txBody>
      </p:sp>
      <p:sp>
        <p:nvSpPr>
          <p:cNvPr id="28" name="Shape 26"/>
          <p:cNvSpPr/>
          <p:nvPr/>
        </p:nvSpPr>
        <p:spPr>
          <a:xfrm>
            <a:off x="228600" y="2459736"/>
            <a:ext cx="8686800" cy="612648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228600" y="2459736"/>
            <a:ext cx="54864" cy="612648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47472" y="2505456"/>
            <a:ext cx="2715768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does our pipeline drop off?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3090672" y="2459736"/>
            <a:ext cx="0" cy="612648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916168" y="2459736"/>
            <a:ext cx="0" cy="612648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154680" y="2514600"/>
            <a:ext cx="2670048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 Four separate count cells. Drop-off is a calculation, not visible.</a:t>
            </a:r>
            <a:endParaRPr lang="en-US" sz="950" dirty="0"/>
          </a:p>
        </p:txBody>
      </p:sp>
      <p:sp>
        <p:nvSpPr>
          <p:cNvPr id="34" name="Text 32"/>
          <p:cNvSpPr/>
          <p:nvPr/>
        </p:nvSpPr>
        <p:spPr>
          <a:xfrm>
            <a:off x="5989320" y="2514600"/>
            <a:ext cx="2852928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6A3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funnel_altair — each stage narrows visually. Problem stage is unmissable.</a:t>
            </a:r>
            <a:endParaRPr lang="en-US" sz="950" dirty="0"/>
          </a:p>
        </p:txBody>
      </p:sp>
      <p:sp>
        <p:nvSpPr>
          <p:cNvPr id="35" name="Shape 33"/>
          <p:cNvSpPr/>
          <p:nvPr/>
        </p:nvSpPr>
        <p:spPr>
          <a:xfrm>
            <a:off x="228600" y="3108960"/>
            <a:ext cx="8686800" cy="612648"/>
          </a:xfrm>
          <a:prstGeom prst="rect">
            <a:avLst/>
          </a:prstGeom>
          <a:solidFill>
            <a:srgbClr val="F1F5F9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28600" y="3108960"/>
            <a:ext cx="54864" cy="612648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47472" y="3154680"/>
            <a:ext cx="2715768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 we hitting the sales target?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3090672" y="3108960"/>
            <a:ext cx="0" cy="612648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5916168" y="3108960"/>
            <a:ext cx="0" cy="612648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154680" y="3163824"/>
            <a:ext cx="2670048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 Two numbers side by side: actual and target. Delta is manual.</a:t>
            </a:r>
            <a:endParaRPr lang="en-US" sz="950" dirty="0"/>
          </a:p>
        </p:txBody>
      </p:sp>
      <p:sp>
        <p:nvSpPr>
          <p:cNvPr id="41" name="Text 39"/>
          <p:cNvSpPr/>
          <p:nvPr/>
        </p:nvSpPr>
        <p:spPr>
          <a:xfrm>
            <a:off x="5989320" y="3163824"/>
            <a:ext cx="2852928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6A3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bullet_altair — actual vs target vs tolerance band. Red/green at a glance.</a:t>
            </a:r>
            <a:endParaRPr lang="en-US" sz="950" dirty="0"/>
          </a:p>
        </p:txBody>
      </p:sp>
      <p:sp>
        <p:nvSpPr>
          <p:cNvPr id="42" name="Shape 40"/>
          <p:cNvSpPr/>
          <p:nvPr/>
        </p:nvSpPr>
        <p:spPr>
          <a:xfrm>
            <a:off x="228600" y="3758184"/>
            <a:ext cx="8686800" cy="612648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228600" y="3758184"/>
            <a:ext cx="54864" cy="612648"/>
          </a:xfrm>
          <a:prstGeom prst="rect">
            <a:avLst/>
          </a:prstGeom>
          <a:solidFill>
            <a:srgbClr val="0F2D54"/>
          </a:solidFill>
          <a:ln w="12700">
            <a:solidFill>
              <a:srgbClr val="0F2D54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47472" y="3803904"/>
            <a:ext cx="2715768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F2D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Which product × month is weakest?</a:t>
            </a:r>
            <a:endParaRPr lang="en-US" sz="1000" dirty="0"/>
          </a:p>
        </p:txBody>
      </p:sp>
      <p:sp>
        <p:nvSpPr>
          <p:cNvPr id="45" name="Shape 43"/>
          <p:cNvSpPr/>
          <p:nvPr/>
        </p:nvSpPr>
        <p:spPr>
          <a:xfrm>
            <a:off x="3090672" y="3758184"/>
            <a:ext cx="0" cy="612648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5916168" y="3758184"/>
            <a:ext cx="0" cy="612648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3154680" y="3813048"/>
            <a:ext cx="2670048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 Pivot table — reader must scan every cell across the full grid.</a:t>
            </a:r>
            <a:endParaRPr lang="en-US" sz="950" dirty="0"/>
          </a:p>
        </p:txBody>
      </p:sp>
      <p:sp>
        <p:nvSpPr>
          <p:cNvPr id="48" name="Text 46"/>
          <p:cNvSpPr/>
          <p:nvPr/>
        </p:nvSpPr>
        <p:spPr>
          <a:xfrm>
            <a:off x="5989320" y="3813048"/>
            <a:ext cx="2852928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6A3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heatmap_altair — colour intensity highlights weak cells immediately.</a:t>
            </a:r>
            <a:endParaRPr lang="en-US" sz="950" dirty="0"/>
          </a:p>
        </p:txBody>
      </p:sp>
      <p:sp>
        <p:nvSpPr>
          <p:cNvPr id="49" name="Shape 47"/>
          <p:cNvSpPr/>
          <p:nvPr/>
        </p:nvSpPr>
        <p:spPr>
          <a:xfrm>
            <a:off x="228600" y="4407408"/>
            <a:ext cx="8686800" cy="612648"/>
          </a:xfrm>
          <a:prstGeom prst="rect">
            <a:avLst/>
          </a:prstGeom>
          <a:solidFill>
            <a:srgbClr val="F1F5F9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228600" y="4407408"/>
            <a:ext cx="54864" cy="612648"/>
          </a:xfrm>
          <a:prstGeom prst="rect">
            <a:avLst/>
          </a:prstGeom>
          <a:solidFill>
            <a:srgbClr val="6D28D9"/>
          </a:solidFill>
          <a:ln w="12700">
            <a:solidFill>
              <a:srgbClr val="6D28D9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347472" y="4453128"/>
            <a:ext cx="2715768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6D28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does this month compare to last?</a:t>
            </a:r>
            <a:endParaRPr lang="en-US" sz="1000" dirty="0"/>
          </a:p>
        </p:txBody>
      </p:sp>
      <p:sp>
        <p:nvSpPr>
          <p:cNvPr id="52" name="Shape 50"/>
          <p:cNvSpPr/>
          <p:nvPr/>
        </p:nvSpPr>
        <p:spPr>
          <a:xfrm>
            <a:off x="3090672" y="4407408"/>
            <a:ext cx="0" cy="612648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5916168" y="4407408"/>
            <a:ext cx="0" cy="612648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3154680" y="4462272"/>
            <a:ext cx="2670048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 Side-by-side numbers. Requires arithmetic to understand the delta.</a:t>
            </a:r>
            <a:endParaRPr lang="en-US" sz="950" dirty="0"/>
          </a:p>
        </p:txBody>
      </p:sp>
      <p:sp>
        <p:nvSpPr>
          <p:cNvPr id="55" name="Text 53"/>
          <p:cNvSpPr/>
          <p:nvPr/>
        </p:nvSpPr>
        <p:spPr>
          <a:xfrm>
            <a:off x="5989320" y="4462272"/>
            <a:ext cx="2852928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6A3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grouped_bar_altair — columns sit next to each other. Delta is visual.</a:t>
            </a:r>
            <a:endParaRPr lang="en-US" sz="9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02920"/>
          </a:xfrm>
          <a:prstGeom prst="rect">
            <a:avLst/>
          </a:prstGeom>
          <a:solidFill>
            <a:srgbClr val="0F2D54"/>
          </a:solidFill>
          <a:ln w="12700">
            <a:solidFill>
              <a:srgbClr val="0F2D54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82880" cy="502920"/>
          </a:xfrm>
          <a:prstGeom prst="rect">
            <a:avLst/>
          </a:prstGeom>
          <a:solidFill>
            <a:srgbClr val="0891B2"/>
          </a:solidFill>
          <a:ln w="12700">
            <a:solidFill>
              <a:srgbClr val="0891B2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20040" y="0"/>
            <a:ext cx="8503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HTML + SQL Email vs PyViz — Key Differences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320040" y="502920"/>
            <a:ext cx="8503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Both use the same BigQuery data — PyViz adds what Outlook HTML simply cannot do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0" y="4892040"/>
            <a:ext cx="9144000" cy="256032"/>
          </a:xfrm>
          <a:prstGeom prst="rect">
            <a:avLst/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0" y="4892040"/>
            <a:ext cx="9144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PyViz  ·  Chart Email Engine  ·  Confidential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228600" y="822960"/>
            <a:ext cx="2286000" cy="347472"/>
          </a:xfrm>
          <a:prstGeom prst="rect">
            <a:avLst/>
          </a:prstGeom>
          <a:solidFill>
            <a:srgbClr val="0F2D54"/>
          </a:solidFill>
          <a:ln w="12700">
            <a:solidFill>
              <a:srgbClr val="0F2D54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578608" y="822960"/>
            <a:ext cx="3108960" cy="347472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742432" y="822960"/>
            <a:ext cx="3172968" cy="347472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274320" y="822960"/>
            <a:ext cx="2194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Capability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2624328" y="822960"/>
            <a:ext cx="30175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Current HTML + SQL Email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5788152" y="822960"/>
            <a:ext cx="308152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 PyViz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228600" y="1234440"/>
            <a:ext cx="8686800" cy="987552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228600" y="1234440"/>
            <a:ext cx="2286000" cy="987552"/>
          </a:xfrm>
          <a:prstGeom prst="rect">
            <a:avLst/>
          </a:prstGeom>
          <a:solidFill>
            <a:srgbClr val="1565C0">
              <a:alpha val="10000"/>
            </a:srgbClr>
          </a:solidFill>
          <a:ln w="12700">
            <a:solidFill>
              <a:srgbClr val="1565C0">
                <a:alpha val="4000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228600" y="1234440"/>
            <a:ext cx="64008" cy="987552"/>
          </a:xfrm>
          <a:prstGeom prst="rect">
            <a:avLst/>
          </a:prstGeom>
          <a:solidFill>
            <a:srgbClr val="1565C0"/>
          </a:solidFill>
          <a:ln w="12700">
            <a:solidFill>
              <a:srgbClr val="1565C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84048" y="1307592"/>
            <a:ext cx="202996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Source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384048" y="1581912"/>
            <a:ext cx="202996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the numbers come from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2542032" y="1234440"/>
            <a:ext cx="0" cy="987552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715000" y="1234440"/>
            <a:ext cx="0" cy="987552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2633472" y="1325880"/>
            <a:ext cx="2999232" cy="8503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 Analyst writes SQL queries manually per report.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 Each query hard-coded to a specific table.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 Changes to source table require updating HTML code.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 No shared config — each report is standalone.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5797296" y="1325880"/>
            <a:ext cx="3063240" cy="8503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16A3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Same BigQuery tables — zero migration or changes needed.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16A3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bq_table field in chart_config_view points to any table.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16A3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Source table change = update one config field only.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16A3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All reports share a single, unified config layer.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228600" y="2276856"/>
            <a:ext cx="8686800" cy="987552"/>
          </a:xfrm>
          <a:prstGeom prst="rect">
            <a:avLst/>
          </a:prstGeom>
          <a:solidFill>
            <a:srgbClr val="F1F5F9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228600" y="2276856"/>
            <a:ext cx="2286000" cy="987552"/>
          </a:xfrm>
          <a:prstGeom prst="rect">
            <a:avLst/>
          </a:prstGeom>
          <a:solidFill>
            <a:srgbClr val="DC2626">
              <a:alpha val="10000"/>
            </a:srgbClr>
          </a:solidFill>
          <a:ln w="12700">
            <a:solidFill>
              <a:srgbClr val="DC2626">
                <a:alpha val="40000"/>
              </a:srgbClr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28600" y="2276856"/>
            <a:ext cx="64008" cy="987552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84048" y="2350008"/>
            <a:ext cx="202996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Chart Rendering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384048" y="2624328"/>
            <a:ext cx="202996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visuals reach the reader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2542032" y="2276856"/>
            <a:ext cx="0" cy="987552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715000" y="2276856"/>
            <a:ext cx="0" cy="987552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633472" y="2368296"/>
            <a:ext cx="2999232" cy="8503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 Canvas, SVG, and JavaScript — all stripped by Outlook.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 Chart.js, D3.js, Highcharts: silently fail in email.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 Only workaround: manually paste static screenshots.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 Screenshots go stale — data is frozen at paste time.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5797296" y="2368296"/>
            <a:ext cx="3063240" cy="8503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16A3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Python renders chart server-side using Vega-Altair.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16A3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Output is a PNG encoded as base64 inside an &lt;img&gt; tag.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16A3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&lt;img&gt; tags are supported by every email client — always.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16A3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Charts are freshly generated on every engine run.</a:t>
            </a:r>
            <a:endParaRPr lang="en-US" sz="900" dirty="0"/>
          </a:p>
        </p:txBody>
      </p:sp>
      <p:sp>
        <p:nvSpPr>
          <p:cNvPr id="32" name="Shape 30"/>
          <p:cNvSpPr/>
          <p:nvPr/>
        </p:nvSpPr>
        <p:spPr>
          <a:xfrm>
            <a:off x="228600" y="3319272"/>
            <a:ext cx="8686800" cy="877824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28600" y="3319272"/>
            <a:ext cx="2286000" cy="877824"/>
          </a:xfrm>
          <a:prstGeom prst="rect">
            <a:avLst/>
          </a:prstGeom>
          <a:solidFill>
            <a:srgbClr val="475569">
              <a:alpha val="10000"/>
            </a:srgbClr>
          </a:solidFill>
          <a:ln w="12700">
            <a:solidFill>
              <a:srgbClr val="475569">
                <a:alpha val="40000"/>
              </a:srgbClr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228600" y="3319272"/>
            <a:ext cx="64008" cy="877824"/>
          </a:xfrm>
          <a:prstGeom prst="rect">
            <a:avLst/>
          </a:prstGeom>
          <a:solidFill>
            <a:srgbClr val="475569"/>
          </a:solidFill>
          <a:ln w="12700">
            <a:solidFill>
              <a:srgbClr val="475569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384048" y="3392424"/>
            <a:ext cx="202996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Dark Mode</a:t>
            </a:r>
            <a:endParaRPr lang="en-US" sz="1100" dirty="0"/>
          </a:p>
        </p:txBody>
      </p:sp>
      <p:sp>
        <p:nvSpPr>
          <p:cNvPr id="36" name="Text 34"/>
          <p:cNvSpPr/>
          <p:nvPr/>
        </p:nvSpPr>
        <p:spPr>
          <a:xfrm>
            <a:off x="384048" y="3666744"/>
            <a:ext cx="202996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Visual theme per chart</a:t>
            </a:r>
            <a:endParaRPr lang="en-US" sz="850" dirty="0"/>
          </a:p>
        </p:txBody>
      </p:sp>
      <p:sp>
        <p:nvSpPr>
          <p:cNvPr id="37" name="Shape 35"/>
          <p:cNvSpPr/>
          <p:nvPr/>
        </p:nvSpPr>
        <p:spPr>
          <a:xfrm>
            <a:off x="2542032" y="3319272"/>
            <a:ext cx="0" cy="877824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5715000" y="3319272"/>
            <a:ext cx="0" cy="877824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2633472" y="3410712"/>
            <a:ext cx="2999232" cy="7406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 Not feasible — HTML email has no reliable dark-mode trigger.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 CSS media queries for dark mode ignored by Outlook.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 Would require maintaining two separate HTML templates.</a:t>
            </a:r>
            <a:endParaRPr lang="en-US" sz="900" dirty="0"/>
          </a:p>
        </p:txBody>
      </p:sp>
      <p:sp>
        <p:nvSpPr>
          <p:cNvPr id="40" name="Text 38"/>
          <p:cNvSpPr/>
          <p:nvPr/>
        </p:nvSpPr>
        <p:spPr>
          <a:xfrm>
            <a:off x="5797296" y="3410712"/>
            <a:ext cx="3063240" cy="7406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16A3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dark_mode flag per chart row in chart_config_view.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16A3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One config field flips background, text, grid colours.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16A3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Each chart in the same email can have its own theme.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228600" y="4251960"/>
            <a:ext cx="8686800" cy="987552"/>
          </a:xfrm>
          <a:prstGeom prst="rect">
            <a:avLst/>
          </a:prstGeom>
          <a:solidFill>
            <a:srgbClr val="F1F5F9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228600" y="4251960"/>
            <a:ext cx="2286000" cy="987552"/>
          </a:xfrm>
          <a:prstGeom prst="rect">
            <a:avLst/>
          </a:prstGeom>
          <a:solidFill>
            <a:srgbClr val="D97706">
              <a:alpha val="10000"/>
            </a:srgbClr>
          </a:solidFill>
          <a:ln w="12700">
            <a:solidFill>
              <a:srgbClr val="D97706">
                <a:alpha val="40000"/>
              </a:srgbClr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228600" y="4251960"/>
            <a:ext cx="64008" cy="987552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84048" y="4325112"/>
            <a:ext cx="202996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Audit &amp; Error Tracking</a:t>
            </a:r>
            <a:endParaRPr lang="en-US" sz="1100" dirty="0"/>
          </a:p>
        </p:txBody>
      </p:sp>
      <p:sp>
        <p:nvSpPr>
          <p:cNvPr id="45" name="Text 43"/>
          <p:cNvSpPr/>
          <p:nvPr/>
        </p:nvSpPr>
        <p:spPr>
          <a:xfrm>
            <a:off x="384048" y="4599432"/>
            <a:ext cx="202996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happens when something fails</a:t>
            </a:r>
            <a:endParaRPr lang="en-US" sz="850" dirty="0"/>
          </a:p>
        </p:txBody>
      </p:sp>
      <p:sp>
        <p:nvSpPr>
          <p:cNvPr id="46" name="Shape 44"/>
          <p:cNvSpPr/>
          <p:nvPr/>
        </p:nvSpPr>
        <p:spPr>
          <a:xfrm>
            <a:off x="2542032" y="4251960"/>
            <a:ext cx="0" cy="987552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5715000" y="4251960"/>
            <a:ext cx="0" cy="987552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2633472" y="4343400"/>
            <a:ext cx="2999232" cy="8503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 No built-in error logging — failures are silent.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 Wrong chart goes unnoticed until reader complains.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 No record of which emails were sent or succeeded.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 Debugging requires manually re-running and inspecting.</a:t>
            </a:r>
            <a:endParaRPr lang="en-US" sz="900" dirty="0"/>
          </a:p>
        </p:txBody>
      </p:sp>
      <p:sp>
        <p:nvSpPr>
          <p:cNvPr id="49" name="Text 47"/>
          <p:cNvSpPr/>
          <p:nvPr/>
        </p:nvSpPr>
        <p:spPr>
          <a:xfrm>
            <a:off x="5797296" y="4343400"/>
            <a:ext cx="3063240" cy="8503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16A3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email_output BQ table written after every run.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16A3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Fields: status (SUCCESS / WARN / FAILED), error_message.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16A3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charts_injected vs total_charts ratio — partial failures visible.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16A3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processed_at timestamp — full audit trail per recipient.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02920"/>
          </a:xfrm>
          <a:prstGeom prst="rect">
            <a:avLst/>
          </a:prstGeom>
          <a:solidFill>
            <a:srgbClr val="0F2D54"/>
          </a:solidFill>
          <a:ln w="12700">
            <a:solidFill>
              <a:srgbClr val="0F2D54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82880" cy="502920"/>
          </a:xfrm>
          <a:prstGeom prst="rect">
            <a:avLst/>
          </a:prstGeom>
          <a:solidFill>
            <a:srgbClr val="0891B2"/>
          </a:solidFill>
          <a:ln w="12700">
            <a:solidFill>
              <a:srgbClr val="0891B2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20040" y="0"/>
            <a:ext cx="8503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Effort Summary — Setup Once, Extend Forever Without Python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320040" y="502920"/>
            <a:ext cx="8503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One-time investment unlocks permanent self-serve chart capability for analysts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0" y="4892040"/>
            <a:ext cx="9144000" cy="256032"/>
          </a:xfrm>
          <a:prstGeom prst="rect">
            <a:avLst/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0" y="4892040"/>
            <a:ext cx="9144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PyViz  ·  Chart Email Engine  ·  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274320" y="822960"/>
            <a:ext cx="4160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F2D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One-Time Setup (~4 days total)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274320" y="1170432"/>
            <a:ext cx="2212848" cy="274320"/>
          </a:xfrm>
          <a:prstGeom prst="rect">
            <a:avLst/>
          </a:prstGeom>
          <a:solidFill>
            <a:srgbClr val="0F2D54"/>
          </a:solidFill>
          <a:ln w="12700">
            <a:solidFill>
              <a:srgbClr val="0F2D54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274320" y="1170432"/>
            <a:ext cx="22128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Task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2542032" y="1170432"/>
            <a:ext cx="822960" cy="274320"/>
          </a:xfrm>
          <a:prstGeom prst="rect">
            <a:avLst/>
          </a:prstGeom>
          <a:solidFill>
            <a:srgbClr val="0F2D54"/>
          </a:solidFill>
          <a:ln w="12700">
            <a:solidFill>
              <a:srgbClr val="0F2D54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2542032" y="1170432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Effort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3429000" y="1170432"/>
            <a:ext cx="1024128" cy="274320"/>
          </a:xfrm>
          <a:prstGeom prst="rect">
            <a:avLst/>
          </a:prstGeom>
          <a:solidFill>
            <a:srgbClr val="0F2D54"/>
          </a:solidFill>
          <a:ln w="12700">
            <a:solidFill>
              <a:srgbClr val="0F2D54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429000" y="1170432"/>
            <a:ext cx="10241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Owner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274320" y="1463040"/>
            <a:ext cx="4224528" cy="329184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20040" y="1463040"/>
            <a:ext cx="21579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Deploy engine + BQ schema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2542032" y="1463040"/>
            <a:ext cx="7863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day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3401568" y="1463040"/>
            <a:ext cx="1051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 Dev + DBA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274320" y="1801368"/>
            <a:ext cx="4224528" cy="329184"/>
          </a:xfrm>
          <a:prstGeom prst="rect">
            <a:avLst/>
          </a:prstGeom>
          <a:solidFill>
            <a:srgbClr val="F1F5F9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20040" y="1801368"/>
            <a:ext cx="21579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HTML email template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2542032" y="1801368"/>
            <a:ext cx="7863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0.5 day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3401568" y="1801368"/>
            <a:ext cx="1051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Analyst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274320" y="2139696"/>
            <a:ext cx="4224528" cy="329184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20040" y="2139696"/>
            <a:ext cx="21579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Initial chart_config_view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2542032" y="2139696"/>
            <a:ext cx="7863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0.5 day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3401568" y="2139696"/>
            <a:ext cx="1051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Analyst</a:t>
            </a:r>
            <a:endParaRPr lang="en-US" sz="850" dirty="0"/>
          </a:p>
        </p:txBody>
      </p:sp>
      <p:sp>
        <p:nvSpPr>
          <p:cNvPr id="27" name="Shape 25"/>
          <p:cNvSpPr/>
          <p:nvPr/>
        </p:nvSpPr>
        <p:spPr>
          <a:xfrm>
            <a:off x="274320" y="2478024"/>
            <a:ext cx="4224528" cy="329184"/>
          </a:xfrm>
          <a:prstGeom prst="rect">
            <a:avLst/>
          </a:prstGeom>
          <a:solidFill>
            <a:srgbClr val="F1F5F9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320040" y="2478024"/>
            <a:ext cx="21579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GCP service account + IAM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2542032" y="2478024"/>
            <a:ext cx="7863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0.5 day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3401568" y="2478024"/>
            <a:ext cx="1051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GCP Admin</a:t>
            </a:r>
            <a:endParaRPr lang="en-US" sz="850" dirty="0"/>
          </a:p>
        </p:txBody>
      </p:sp>
      <p:sp>
        <p:nvSpPr>
          <p:cNvPr id="31" name="Shape 29"/>
          <p:cNvSpPr/>
          <p:nvPr/>
        </p:nvSpPr>
        <p:spPr>
          <a:xfrm>
            <a:off x="274320" y="2816352"/>
            <a:ext cx="4224528" cy="329184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20040" y="2816352"/>
            <a:ext cx="21579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Scheduling (Cloud Scheduler)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2542032" y="2816352"/>
            <a:ext cx="7863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0.5 day</a:t>
            </a:r>
            <a:endParaRPr lang="en-US" sz="900" dirty="0"/>
          </a:p>
        </p:txBody>
      </p:sp>
      <p:sp>
        <p:nvSpPr>
          <p:cNvPr id="34" name="Text 32"/>
          <p:cNvSpPr/>
          <p:nvPr/>
        </p:nvSpPr>
        <p:spPr>
          <a:xfrm>
            <a:off x="3401568" y="2816352"/>
            <a:ext cx="1051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DevOps</a:t>
            </a:r>
            <a:endParaRPr lang="en-US" sz="850" dirty="0"/>
          </a:p>
        </p:txBody>
      </p:sp>
      <p:sp>
        <p:nvSpPr>
          <p:cNvPr id="35" name="Shape 33"/>
          <p:cNvSpPr/>
          <p:nvPr/>
        </p:nvSpPr>
        <p:spPr>
          <a:xfrm>
            <a:off x="274320" y="3154680"/>
            <a:ext cx="4224528" cy="329184"/>
          </a:xfrm>
          <a:prstGeom prst="rect">
            <a:avLst/>
          </a:prstGeom>
          <a:solidFill>
            <a:srgbClr val="F1F5F9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20040" y="3154680"/>
            <a:ext cx="21579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 live report validation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2542032" y="3154680"/>
            <a:ext cx="7863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day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3401568" y="3154680"/>
            <a:ext cx="1051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Analyst + Dev</a:t>
            </a:r>
            <a:endParaRPr lang="en-US" sz="850" dirty="0"/>
          </a:p>
        </p:txBody>
      </p:sp>
      <p:sp>
        <p:nvSpPr>
          <p:cNvPr id="39" name="Shape 37"/>
          <p:cNvSpPr/>
          <p:nvPr/>
        </p:nvSpPr>
        <p:spPr>
          <a:xfrm>
            <a:off x="274320" y="3493008"/>
            <a:ext cx="4224528" cy="329184"/>
          </a:xfrm>
          <a:prstGeom prst="rect">
            <a:avLst/>
          </a:prstGeom>
          <a:solidFill>
            <a:srgbClr val="0D9488">
              <a:alpha val="18000"/>
            </a:srgbClr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20040" y="3493008"/>
            <a:ext cx="21579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</a:t>
            </a:r>
            <a:endParaRPr lang="en-US" sz="950" dirty="0"/>
          </a:p>
        </p:txBody>
      </p:sp>
      <p:sp>
        <p:nvSpPr>
          <p:cNvPr id="41" name="Text 39"/>
          <p:cNvSpPr/>
          <p:nvPr/>
        </p:nvSpPr>
        <p:spPr>
          <a:xfrm>
            <a:off x="2542032" y="3493008"/>
            <a:ext cx="7863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~4 days</a:t>
            </a:r>
            <a:endParaRPr lang="en-US" sz="950" dirty="0"/>
          </a:p>
        </p:txBody>
      </p:sp>
      <p:sp>
        <p:nvSpPr>
          <p:cNvPr id="42" name="Text 40"/>
          <p:cNvSpPr/>
          <p:nvPr/>
        </p:nvSpPr>
        <p:spPr>
          <a:xfrm>
            <a:off x="4663440" y="822960"/>
            <a:ext cx="4206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F2D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Ongoing — Analyst Self-Serve (No Dev Needed)</a:t>
            </a:r>
            <a:endParaRPr lang="en-US" sz="1200" dirty="0"/>
          </a:p>
        </p:txBody>
      </p:sp>
      <p:sp>
        <p:nvSpPr>
          <p:cNvPr id="43" name="Shape 41"/>
          <p:cNvSpPr/>
          <p:nvPr/>
        </p:nvSpPr>
        <p:spPr>
          <a:xfrm>
            <a:off x="4617720" y="1170432"/>
            <a:ext cx="4251960" cy="54864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1000"/>
              </a:srgbClr>
            </a:outerShdw>
          </a:effectLst>
        </p:spPr>
      </p:sp>
      <p:sp>
        <p:nvSpPr>
          <p:cNvPr id="44" name="Shape 42"/>
          <p:cNvSpPr/>
          <p:nvPr/>
        </p:nvSpPr>
        <p:spPr>
          <a:xfrm>
            <a:off x="4617720" y="1170432"/>
            <a:ext cx="64008" cy="548640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4828032" y="1225296"/>
            <a:ext cx="3886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chart to existing report</a:t>
            </a:r>
            <a:endParaRPr lang="en-US" sz="1050" dirty="0"/>
          </a:p>
        </p:txBody>
      </p:sp>
      <p:sp>
        <p:nvSpPr>
          <p:cNvPr id="46" name="Text 44"/>
          <p:cNvSpPr/>
          <p:nvPr/>
        </p:nvSpPr>
        <p:spPr>
          <a:xfrm>
            <a:off x="4828032" y="1472184"/>
            <a:ext cx="3886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~15 min  ·  Analyst (SQL only)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4617720" y="1792224"/>
            <a:ext cx="4251960" cy="54864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1000"/>
              </a:srgbClr>
            </a:outerShdw>
          </a:effectLst>
        </p:spPr>
      </p:sp>
      <p:sp>
        <p:nvSpPr>
          <p:cNvPr id="48" name="Shape 46"/>
          <p:cNvSpPr/>
          <p:nvPr/>
        </p:nvSpPr>
        <p:spPr>
          <a:xfrm>
            <a:off x="4617720" y="1792224"/>
            <a:ext cx="64008" cy="548640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828032" y="1847088"/>
            <a:ext cx="3886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new report recipient</a:t>
            </a:r>
            <a:endParaRPr lang="en-US" sz="1050" dirty="0"/>
          </a:p>
        </p:txBody>
      </p:sp>
      <p:sp>
        <p:nvSpPr>
          <p:cNvPr id="50" name="Text 48"/>
          <p:cNvSpPr/>
          <p:nvPr/>
        </p:nvSpPr>
        <p:spPr>
          <a:xfrm>
            <a:off x="4828032" y="2093976"/>
            <a:ext cx="3886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~2 min  ·  Analyst (INSERT row)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4617720" y="2414016"/>
            <a:ext cx="4251960" cy="54864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1000"/>
              </a:srgbClr>
            </a:outerShdw>
          </a:effectLst>
        </p:spPr>
      </p:sp>
      <p:sp>
        <p:nvSpPr>
          <p:cNvPr id="52" name="Shape 50"/>
          <p:cNvSpPr/>
          <p:nvPr/>
        </p:nvSpPr>
        <p:spPr>
          <a:xfrm>
            <a:off x="4617720" y="2414016"/>
            <a:ext cx="64008" cy="548640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4828032" y="2468880"/>
            <a:ext cx="3886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Change title / colour theme</a:t>
            </a:r>
            <a:endParaRPr lang="en-US" sz="1050" dirty="0"/>
          </a:p>
        </p:txBody>
      </p:sp>
      <p:sp>
        <p:nvSpPr>
          <p:cNvPr id="54" name="Text 52"/>
          <p:cNvSpPr/>
          <p:nvPr/>
        </p:nvSpPr>
        <p:spPr>
          <a:xfrm>
            <a:off x="4828032" y="2715768"/>
            <a:ext cx="3886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~2 min  ·  Analyst (UPDATE row)</a:t>
            </a:r>
            <a:endParaRPr lang="en-US" sz="900" dirty="0"/>
          </a:p>
        </p:txBody>
      </p:sp>
      <p:sp>
        <p:nvSpPr>
          <p:cNvPr id="55" name="Shape 53"/>
          <p:cNvSpPr/>
          <p:nvPr/>
        </p:nvSpPr>
        <p:spPr>
          <a:xfrm>
            <a:off x="4617720" y="3035808"/>
            <a:ext cx="4251960" cy="54864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1000"/>
              </a:srgbClr>
            </a:outerShdw>
          </a:effectLst>
        </p:spPr>
      </p:sp>
      <p:sp>
        <p:nvSpPr>
          <p:cNvPr id="56" name="Shape 54"/>
          <p:cNvSpPr/>
          <p:nvPr/>
        </p:nvSpPr>
        <p:spPr>
          <a:xfrm>
            <a:off x="4617720" y="3035808"/>
            <a:ext cx="64008" cy="54864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4828032" y="3090672"/>
            <a:ext cx="3886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 report from scratch</a:t>
            </a:r>
            <a:endParaRPr lang="en-US" sz="1050" dirty="0"/>
          </a:p>
        </p:txBody>
      </p:sp>
      <p:sp>
        <p:nvSpPr>
          <p:cNvPr id="58" name="Text 56"/>
          <p:cNvSpPr/>
          <p:nvPr/>
        </p:nvSpPr>
        <p:spPr>
          <a:xfrm>
            <a:off x="4828032" y="3337560"/>
            <a:ext cx="3886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2–3 hrs  ·  Analyst + Dev</a:t>
            </a:r>
            <a:endParaRPr lang="en-US" sz="900" dirty="0"/>
          </a:p>
        </p:txBody>
      </p:sp>
      <p:sp>
        <p:nvSpPr>
          <p:cNvPr id="59" name="Shape 57"/>
          <p:cNvSpPr/>
          <p:nvPr/>
        </p:nvSpPr>
        <p:spPr>
          <a:xfrm>
            <a:off x="4617720" y="3657600"/>
            <a:ext cx="4251960" cy="54864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1000"/>
              </a:srgbClr>
            </a:outerShdw>
          </a:effectLst>
        </p:spPr>
      </p:sp>
      <p:sp>
        <p:nvSpPr>
          <p:cNvPr id="60" name="Shape 58"/>
          <p:cNvSpPr/>
          <p:nvPr/>
        </p:nvSpPr>
        <p:spPr>
          <a:xfrm>
            <a:off x="4617720" y="3657600"/>
            <a:ext cx="64008" cy="548640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4828032" y="3712464"/>
            <a:ext cx="3886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entirely new chart type</a:t>
            </a:r>
            <a:endParaRPr lang="en-US" sz="1050" dirty="0"/>
          </a:p>
        </p:txBody>
      </p:sp>
      <p:sp>
        <p:nvSpPr>
          <p:cNvPr id="62" name="Text 60"/>
          <p:cNvSpPr/>
          <p:nvPr/>
        </p:nvSpPr>
        <p:spPr>
          <a:xfrm>
            <a:off x="4828032" y="3959352"/>
            <a:ext cx="3886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~0.5 day  ·  Python Dev (one-off)</a:t>
            </a:r>
            <a:endParaRPr lang="en-US" sz="900" dirty="0"/>
          </a:p>
        </p:txBody>
      </p:sp>
      <p:sp>
        <p:nvSpPr>
          <p:cNvPr id="63" name="Shape 61"/>
          <p:cNvSpPr/>
          <p:nvPr/>
        </p:nvSpPr>
        <p:spPr>
          <a:xfrm>
            <a:off x="4617720" y="4279392"/>
            <a:ext cx="4251960" cy="54864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1000"/>
              </a:srgbClr>
            </a:outerShdw>
          </a:effectLst>
        </p:spPr>
      </p:sp>
      <p:sp>
        <p:nvSpPr>
          <p:cNvPr id="64" name="Shape 62"/>
          <p:cNvSpPr/>
          <p:nvPr/>
        </p:nvSpPr>
        <p:spPr>
          <a:xfrm>
            <a:off x="4617720" y="4279392"/>
            <a:ext cx="64008" cy="548640"/>
          </a:xfrm>
          <a:prstGeom prst="rect">
            <a:avLst/>
          </a:prstGeom>
          <a:solidFill>
            <a:srgbClr val="1565C0"/>
          </a:solidFill>
          <a:ln w="12700">
            <a:solidFill>
              <a:srgbClr val="1565C0"/>
            </a:solidFill>
            <a:prstDash val="solid"/>
          </a:ln>
        </p:spPr>
      </p:sp>
      <p:sp>
        <p:nvSpPr>
          <p:cNvPr id="65" name="Text 63"/>
          <p:cNvSpPr/>
          <p:nvPr/>
        </p:nvSpPr>
        <p:spPr>
          <a:xfrm>
            <a:off x="4828032" y="4334256"/>
            <a:ext cx="3886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Scheduled automated run</a:t>
            </a:r>
            <a:endParaRPr lang="en-US" sz="1050" dirty="0"/>
          </a:p>
        </p:txBody>
      </p:sp>
      <p:sp>
        <p:nvSpPr>
          <p:cNvPr id="66" name="Text 64"/>
          <p:cNvSpPr/>
          <p:nvPr/>
        </p:nvSpPr>
        <p:spPr>
          <a:xfrm>
            <a:off x="4828032" y="4581144"/>
            <a:ext cx="3886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 min  ·  Fully automated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F2D54"/>
          </a:solidFill>
          <a:ln w="12700">
            <a:solidFill>
              <a:srgbClr val="0F2D54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82880" cy="5143500"/>
          </a:xfrm>
          <a:prstGeom prst="rect">
            <a:avLst/>
          </a:prstGeom>
          <a:solidFill>
            <a:srgbClr val="0891B2"/>
          </a:solidFill>
          <a:ln w="12700">
            <a:solidFill>
              <a:srgbClr val="0891B2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0D1F3C"/>
          </a:solidFill>
          <a:ln w="12700">
            <a:solidFill>
              <a:srgbClr val="0D1F3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320040" y="0"/>
            <a:ext cx="85039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Impact at a Glance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365760" y="749808"/>
            <a:ext cx="2651760" cy="1920240"/>
          </a:xfrm>
          <a:prstGeom prst="rect">
            <a:avLst/>
          </a:prstGeom>
          <a:solidFill>
            <a:srgbClr val="FFFFFF">
              <a:alpha val="8000"/>
            </a:srgbClr>
          </a:solidFill>
          <a:ln w="19050">
            <a:solidFill>
              <a:srgbClr val="0891B2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1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365760" y="749808"/>
            <a:ext cx="2651760" cy="128016"/>
          </a:xfrm>
          <a:prstGeom prst="rect">
            <a:avLst/>
          </a:prstGeom>
          <a:solidFill>
            <a:srgbClr val="0891B2"/>
          </a:solidFill>
          <a:ln w="12700">
            <a:solidFill>
              <a:srgbClr val="0891B2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7200" y="932688"/>
            <a:ext cx="246888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0891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endParaRPr lang="en-US" sz="3600" dirty="0"/>
          </a:p>
        </p:txBody>
      </p:sp>
      <p:sp>
        <p:nvSpPr>
          <p:cNvPr id="9" name="Text 7"/>
          <p:cNvSpPr/>
          <p:nvPr/>
        </p:nvSpPr>
        <p:spPr>
          <a:xfrm>
            <a:off x="457200" y="1755648"/>
            <a:ext cx="2468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 changes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457200" y="2167128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add a new chart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3291840" y="749808"/>
            <a:ext cx="2651760" cy="1920240"/>
          </a:xfrm>
          <a:prstGeom prst="rect">
            <a:avLst/>
          </a:prstGeom>
          <a:solidFill>
            <a:srgbClr val="FFFFFF">
              <a:alpha val="8000"/>
            </a:srgbClr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1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291840" y="749808"/>
            <a:ext cx="2651760" cy="128016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383280" y="932688"/>
            <a:ext cx="246888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~15 min</a:t>
            </a:r>
            <a:endParaRPr lang="en-US" sz="3600" dirty="0"/>
          </a:p>
        </p:txBody>
      </p:sp>
      <p:sp>
        <p:nvSpPr>
          <p:cNvPr id="14" name="Text 12"/>
          <p:cNvSpPr/>
          <p:nvPr/>
        </p:nvSpPr>
        <p:spPr>
          <a:xfrm>
            <a:off x="3383280" y="1755648"/>
            <a:ext cx="2468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Analyst effort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383280" y="2167128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 new chart (SQL only)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6217920" y="749808"/>
            <a:ext cx="2651760" cy="1920240"/>
          </a:xfrm>
          <a:prstGeom prst="rect">
            <a:avLst/>
          </a:prstGeom>
          <a:solidFill>
            <a:srgbClr val="FFFFFF">
              <a:alpha val="8000"/>
            </a:srgbClr>
          </a:solidFill>
          <a:ln w="19050">
            <a:solidFill>
              <a:srgbClr val="38BDF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1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6217920" y="749808"/>
            <a:ext cx="2651760" cy="128016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309360" y="932688"/>
            <a:ext cx="246888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38B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3600" dirty="0"/>
          </a:p>
        </p:txBody>
      </p:sp>
      <p:sp>
        <p:nvSpPr>
          <p:cNvPr id="19" name="Text 17"/>
          <p:cNvSpPr/>
          <p:nvPr/>
        </p:nvSpPr>
        <p:spPr>
          <a:xfrm>
            <a:off x="6309360" y="1755648"/>
            <a:ext cx="2468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Chart types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6309360" y="2167128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available today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365760" y="2898648"/>
            <a:ext cx="2651760" cy="1920240"/>
          </a:xfrm>
          <a:prstGeom prst="rect">
            <a:avLst/>
          </a:prstGeom>
          <a:solidFill>
            <a:srgbClr val="FFFFFF">
              <a:alpha val="8000"/>
            </a:srgbClr>
          </a:solidFill>
          <a:ln w="19050">
            <a:solidFill>
              <a:srgbClr val="16A34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1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365760" y="2898648"/>
            <a:ext cx="2651760" cy="128016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57200" y="3081528"/>
            <a:ext cx="246888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16A3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~4 days</a:t>
            </a:r>
            <a:endParaRPr lang="en-US" sz="3600" dirty="0"/>
          </a:p>
        </p:txBody>
      </p:sp>
      <p:sp>
        <p:nvSpPr>
          <p:cNvPr id="24" name="Text 22"/>
          <p:cNvSpPr/>
          <p:nvPr/>
        </p:nvSpPr>
        <p:spPr>
          <a:xfrm>
            <a:off x="457200" y="3904488"/>
            <a:ext cx="2468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setup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457200" y="4315968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production ready end-to-end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3291840" y="2898648"/>
            <a:ext cx="2651760" cy="1920240"/>
          </a:xfrm>
          <a:prstGeom prst="rect">
            <a:avLst/>
          </a:prstGeom>
          <a:solidFill>
            <a:srgbClr val="FFFFFF">
              <a:alpha val="8000"/>
            </a:srgbClr>
          </a:solidFill>
          <a:ln w="1905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1000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3291840" y="2898648"/>
            <a:ext cx="2651760" cy="128016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3383280" y="3081528"/>
            <a:ext cx="246888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run</a:t>
            </a:r>
            <a:endParaRPr lang="en-US" sz="3600" dirty="0"/>
          </a:p>
        </p:txBody>
      </p:sp>
      <p:sp>
        <p:nvSpPr>
          <p:cNvPr id="29" name="Text 27"/>
          <p:cNvSpPr/>
          <p:nvPr/>
        </p:nvSpPr>
        <p:spPr>
          <a:xfrm>
            <a:off x="3383280" y="3904488"/>
            <a:ext cx="2468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Generates N emails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3383280" y="4315968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personalised per recipient</a:t>
            </a:r>
            <a:endParaRPr lang="en-US" sz="900" dirty="0"/>
          </a:p>
        </p:txBody>
      </p:sp>
      <p:sp>
        <p:nvSpPr>
          <p:cNvPr id="31" name="Shape 29"/>
          <p:cNvSpPr/>
          <p:nvPr/>
        </p:nvSpPr>
        <p:spPr>
          <a:xfrm>
            <a:off x="6217920" y="2898648"/>
            <a:ext cx="2651760" cy="1920240"/>
          </a:xfrm>
          <a:prstGeom prst="rect">
            <a:avLst/>
          </a:prstGeom>
          <a:solidFill>
            <a:srgbClr val="FFFFFF">
              <a:alpha val="8000"/>
            </a:srgbClr>
          </a:solidFill>
          <a:ln w="19050">
            <a:solidFill>
              <a:srgbClr val="A78BF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1000"/>
              </a:srgbClr>
            </a:outerShdw>
          </a:effectLst>
        </p:spPr>
      </p:sp>
      <p:sp>
        <p:nvSpPr>
          <p:cNvPr id="32" name="Shape 30"/>
          <p:cNvSpPr/>
          <p:nvPr/>
        </p:nvSpPr>
        <p:spPr>
          <a:xfrm>
            <a:off x="6217920" y="2898648"/>
            <a:ext cx="2651760" cy="128016"/>
          </a:xfrm>
          <a:prstGeom prst="rect">
            <a:avLst/>
          </a:prstGeom>
          <a:solidFill>
            <a:srgbClr val="A78BFA"/>
          </a:solidFill>
          <a:ln w="12700">
            <a:solidFill>
              <a:srgbClr val="A78BFA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6309360" y="3081528"/>
            <a:ext cx="246888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A78B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∞</a:t>
            </a:r>
            <a:endParaRPr lang="en-US" sz="3600" dirty="0"/>
          </a:p>
        </p:txBody>
      </p:sp>
      <p:sp>
        <p:nvSpPr>
          <p:cNvPr id="34" name="Text 32"/>
          <p:cNvSpPr/>
          <p:nvPr/>
        </p:nvSpPr>
        <p:spPr>
          <a:xfrm>
            <a:off x="6309360" y="3904488"/>
            <a:ext cx="2468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Outlook compatible</a:t>
            </a:r>
            <a:endParaRPr lang="en-US" sz="1100" dirty="0"/>
          </a:p>
        </p:txBody>
      </p:sp>
      <p:sp>
        <p:nvSpPr>
          <p:cNvPr id="35" name="Text 33"/>
          <p:cNvSpPr/>
          <p:nvPr/>
        </p:nvSpPr>
        <p:spPr>
          <a:xfrm>
            <a:off x="6309360" y="4315968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base64 PNG — every email client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0" y="4892040"/>
            <a:ext cx="9144000" cy="256032"/>
          </a:xfrm>
          <a:prstGeom prst="rect">
            <a:avLst/>
          </a:prstGeom>
          <a:solidFill>
            <a:srgbClr val="0D1F3C"/>
          </a:solidFill>
          <a:ln w="12700">
            <a:solidFill>
              <a:srgbClr val="0D1F3C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0" y="4892040"/>
            <a:ext cx="9144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PyViz  ·  Automated Chart Email Engine  ·  Confidential</a:t>
            </a:r>
            <a:endParaRPr lang="en-US" sz="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1F5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02920"/>
          </a:xfrm>
          <a:prstGeom prst="rect">
            <a:avLst/>
          </a:prstGeom>
          <a:solidFill>
            <a:srgbClr val="0F2D54"/>
          </a:solidFill>
          <a:ln w="12700">
            <a:solidFill>
              <a:srgbClr val="0F2D54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82880" cy="502920"/>
          </a:xfrm>
          <a:prstGeom prst="rect">
            <a:avLst/>
          </a:prstGeom>
          <a:solidFill>
            <a:srgbClr val="0891B2"/>
          </a:solidFill>
          <a:ln w="12700">
            <a:solidFill>
              <a:srgbClr val="0891B2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20040" y="0"/>
            <a:ext cx="8503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Summary &amp; Recommended Next Steps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0" y="4892040"/>
            <a:ext cx="9144000" cy="256032"/>
          </a:xfrm>
          <a:prstGeom prst="rect">
            <a:avLst/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0" y="4892040"/>
            <a:ext cx="9144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PyViz  ·  Chart Email Engine  ·  Confidential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274320" y="841248"/>
            <a:ext cx="5303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F2D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PyViz Gives You Over HTML + SQL Email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1316736"/>
            <a:ext cx="246888" cy="246888"/>
          </a:xfrm>
          <a:prstGeom prst="ellipse">
            <a:avLst/>
          </a:prstGeom>
          <a:solidFill>
            <a:srgbClr val="0891B2"/>
          </a:solidFill>
          <a:ln w="12700">
            <a:solidFill>
              <a:srgbClr val="0891B2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74320" y="1316736"/>
            <a:ext cx="2468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850" dirty="0"/>
          </a:p>
        </p:txBody>
      </p:sp>
      <p:sp>
        <p:nvSpPr>
          <p:cNvPr id="10" name="Text 8"/>
          <p:cNvSpPr/>
          <p:nvPr/>
        </p:nvSpPr>
        <p:spPr>
          <a:xfrm>
            <a:off x="621792" y="1207008"/>
            <a:ext cx="482803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Outlook strips canvas, SVG and JS — pie charts, line charts, heatmaps are impossible in native HTML email.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274320" y="1883664"/>
            <a:ext cx="246888" cy="246888"/>
          </a:xfrm>
          <a:prstGeom prst="ellipse">
            <a:avLst/>
          </a:prstGeom>
          <a:solidFill>
            <a:srgbClr val="0891B2"/>
          </a:solidFill>
          <a:ln w="12700">
            <a:solidFill>
              <a:srgbClr val="0891B2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274320" y="1883664"/>
            <a:ext cx="2468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850" dirty="0"/>
          </a:p>
        </p:txBody>
      </p:sp>
      <p:sp>
        <p:nvSpPr>
          <p:cNvPr id="13" name="Text 11"/>
          <p:cNvSpPr/>
          <p:nvPr/>
        </p:nvSpPr>
        <p:spPr>
          <a:xfrm>
            <a:off x="621792" y="1773936"/>
            <a:ext cx="482803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PyViz renders charts server-side and injects base64 PNG &lt;img&gt; tags — the one format Outlook always supports.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274320" y="2450592"/>
            <a:ext cx="246888" cy="246888"/>
          </a:xfrm>
          <a:prstGeom prst="ellipse">
            <a:avLst/>
          </a:prstGeom>
          <a:solidFill>
            <a:srgbClr val="0891B2"/>
          </a:solidFill>
          <a:ln w="12700">
            <a:solidFill>
              <a:srgbClr val="0891B2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274320" y="2450592"/>
            <a:ext cx="2468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850" dirty="0"/>
          </a:p>
        </p:txBody>
      </p:sp>
      <p:sp>
        <p:nvSpPr>
          <p:cNvPr id="16" name="Text 14"/>
          <p:cNvSpPr/>
          <p:nvPr/>
        </p:nvSpPr>
        <p:spPr>
          <a:xfrm>
            <a:off x="621792" y="2340864"/>
            <a:ext cx="482803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Adding a chart takes 15 minutes of SQL — one UNION ALL block plus one {{TOKEN}} in the HTML template.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274320" y="3017520"/>
            <a:ext cx="246888" cy="246888"/>
          </a:xfrm>
          <a:prstGeom prst="ellipse">
            <a:avLst/>
          </a:prstGeom>
          <a:solidFill>
            <a:srgbClr val="0891B2"/>
          </a:solidFill>
          <a:ln w="12700">
            <a:solidFill>
              <a:srgbClr val="0891B2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74320" y="3017520"/>
            <a:ext cx="2468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621792" y="2907792"/>
            <a:ext cx="482803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Tokens like {this_month} and {email_id} mean one config row serves every recipient with personalised data.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274320" y="3584448"/>
            <a:ext cx="246888" cy="246888"/>
          </a:xfrm>
          <a:prstGeom prst="ellipse">
            <a:avLst/>
          </a:prstGeom>
          <a:solidFill>
            <a:srgbClr val="0891B2"/>
          </a:solidFill>
          <a:ln w="12700">
            <a:solidFill>
              <a:srgbClr val="0891B2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274320" y="3584448"/>
            <a:ext cx="2468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621792" y="3474720"/>
            <a:ext cx="482803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run is fully audited: charts_injected, status, and error messages written to email_output table.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274320" y="4151376"/>
            <a:ext cx="246888" cy="246888"/>
          </a:xfrm>
          <a:prstGeom prst="ellipse">
            <a:avLst/>
          </a:prstGeom>
          <a:solidFill>
            <a:srgbClr val="0891B2"/>
          </a:solidFill>
          <a:ln w="12700">
            <a:solidFill>
              <a:srgbClr val="0891B2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274320" y="4151376"/>
            <a:ext cx="2468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850" dirty="0"/>
          </a:p>
        </p:txBody>
      </p:sp>
      <p:sp>
        <p:nvSpPr>
          <p:cNvPr id="25" name="Text 23"/>
          <p:cNvSpPr/>
          <p:nvPr/>
        </p:nvSpPr>
        <p:spPr>
          <a:xfrm>
            <a:off x="621792" y="4041648"/>
            <a:ext cx="482803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14 chart types are live today — trend, comparison, part-to-whole, distribution, KPI, and detail.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5715000" y="841248"/>
            <a:ext cx="3246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F2D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Recommended Next Steps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5669280" y="1207008"/>
            <a:ext cx="3246120" cy="64008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1000"/>
              </a:srgbClr>
            </a:outerShdw>
          </a:effectLst>
        </p:spPr>
      </p:sp>
      <p:sp>
        <p:nvSpPr>
          <p:cNvPr id="28" name="Shape 26"/>
          <p:cNvSpPr/>
          <p:nvPr/>
        </p:nvSpPr>
        <p:spPr>
          <a:xfrm>
            <a:off x="5760720" y="1335024"/>
            <a:ext cx="347472" cy="347472"/>
          </a:xfrm>
          <a:prstGeom prst="ellipse">
            <a:avLst/>
          </a:prstGeom>
          <a:solidFill>
            <a:srgbClr val="1565C0"/>
          </a:solidFill>
          <a:ln w="12700">
            <a:solidFill>
              <a:srgbClr val="1565C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60720" y="1335024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30" name="Text 28"/>
          <p:cNvSpPr/>
          <p:nvPr/>
        </p:nvSpPr>
        <p:spPr>
          <a:xfrm>
            <a:off x="6199632" y="1280160"/>
            <a:ext cx="26060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Approve GCP service account + BigQuery dataset access</a:t>
            </a:r>
            <a:endParaRPr lang="en-US" sz="950" dirty="0"/>
          </a:p>
        </p:txBody>
      </p:sp>
      <p:sp>
        <p:nvSpPr>
          <p:cNvPr id="31" name="Shape 29"/>
          <p:cNvSpPr/>
          <p:nvPr/>
        </p:nvSpPr>
        <p:spPr>
          <a:xfrm>
            <a:off x="5669280" y="1938528"/>
            <a:ext cx="3246120" cy="64008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1000"/>
              </a:srgbClr>
            </a:outerShdw>
          </a:effectLst>
        </p:spPr>
      </p:sp>
      <p:sp>
        <p:nvSpPr>
          <p:cNvPr id="32" name="Shape 30"/>
          <p:cNvSpPr/>
          <p:nvPr/>
        </p:nvSpPr>
        <p:spPr>
          <a:xfrm>
            <a:off x="5760720" y="2066544"/>
            <a:ext cx="347472" cy="347472"/>
          </a:xfrm>
          <a:prstGeom prst="ellipse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5760720" y="2066544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34" name="Text 32"/>
          <p:cNvSpPr/>
          <p:nvPr/>
        </p:nvSpPr>
        <p:spPr>
          <a:xfrm>
            <a:off x="6199632" y="2011680"/>
            <a:ext cx="26060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BQ schema SQL → create email_list, chart_config_view, email_output</a:t>
            </a:r>
            <a:endParaRPr lang="en-US" sz="950" dirty="0"/>
          </a:p>
        </p:txBody>
      </p:sp>
      <p:sp>
        <p:nvSpPr>
          <p:cNvPr id="35" name="Shape 33"/>
          <p:cNvSpPr/>
          <p:nvPr/>
        </p:nvSpPr>
        <p:spPr>
          <a:xfrm>
            <a:off x="5669280" y="2670048"/>
            <a:ext cx="3246120" cy="64008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1000"/>
              </a:srgbClr>
            </a:outerShdw>
          </a:effectLst>
        </p:spPr>
      </p:sp>
      <p:sp>
        <p:nvSpPr>
          <p:cNvPr id="36" name="Shape 34"/>
          <p:cNvSpPr/>
          <p:nvPr/>
        </p:nvSpPr>
        <p:spPr>
          <a:xfrm>
            <a:off x="5760720" y="2798064"/>
            <a:ext cx="347472" cy="347472"/>
          </a:xfrm>
          <a:prstGeom prst="ellipse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760720" y="2798064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38" name="Text 36"/>
          <p:cNvSpPr/>
          <p:nvPr/>
        </p:nvSpPr>
        <p:spPr>
          <a:xfrm>
            <a:off x="6199632" y="2743200"/>
            <a:ext cx="26060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Onboard one existing HTML report — replace one table with a line chart</a:t>
            </a:r>
            <a:endParaRPr lang="en-US" sz="950" dirty="0"/>
          </a:p>
        </p:txBody>
      </p:sp>
      <p:sp>
        <p:nvSpPr>
          <p:cNvPr id="39" name="Shape 37"/>
          <p:cNvSpPr/>
          <p:nvPr/>
        </p:nvSpPr>
        <p:spPr>
          <a:xfrm>
            <a:off x="5669280" y="3401568"/>
            <a:ext cx="3246120" cy="64008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1000"/>
              </a:srgbClr>
            </a:outerShdw>
          </a:effectLst>
        </p:spPr>
      </p:sp>
      <p:sp>
        <p:nvSpPr>
          <p:cNvPr id="40" name="Shape 38"/>
          <p:cNvSpPr/>
          <p:nvPr/>
        </p:nvSpPr>
        <p:spPr>
          <a:xfrm>
            <a:off x="5760720" y="3529584"/>
            <a:ext cx="347472" cy="347472"/>
          </a:xfrm>
          <a:prstGeom prst="ellipse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5760720" y="3529584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300" dirty="0"/>
          </a:p>
        </p:txBody>
      </p:sp>
      <p:sp>
        <p:nvSpPr>
          <p:cNvPr id="42" name="Text 40"/>
          <p:cNvSpPr/>
          <p:nvPr/>
        </p:nvSpPr>
        <p:spPr>
          <a:xfrm>
            <a:off x="6199632" y="3474720"/>
            <a:ext cx="26060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Validate output — review generated HTML for all recipients</a:t>
            </a:r>
            <a:endParaRPr lang="en-US" sz="950" dirty="0"/>
          </a:p>
        </p:txBody>
      </p:sp>
      <p:sp>
        <p:nvSpPr>
          <p:cNvPr id="43" name="Shape 41"/>
          <p:cNvSpPr/>
          <p:nvPr/>
        </p:nvSpPr>
        <p:spPr>
          <a:xfrm>
            <a:off x="5669280" y="4133088"/>
            <a:ext cx="3246120" cy="64008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1000"/>
              </a:srgbClr>
            </a:outerShdw>
          </a:effectLst>
        </p:spPr>
      </p:sp>
      <p:sp>
        <p:nvSpPr>
          <p:cNvPr id="44" name="Shape 42"/>
          <p:cNvSpPr/>
          <p:nvPr/>
        </p:nvSpPr>
        <p:spPr>
          <a:xfrm>
            <a:off x="5760720" y="4261104"/>
            <a:ext cx="347472" cy="347472"/>
          </a:xfrm>
          <a:prstGeom prst="ellipse">
            <a:avLst/>
          </a:prstGeom>
          <a:solidFill>
            <a:srgbClr val="0F2D54"/>
          </a:solidFill>
          <a:ln w="12700">
            <a:solidFill>
              <a:srgbClr val="0F2D54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5760720" y="4261104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300" dirty="0"/>
          </a:p>
        </p:txBody>
      </p:sp>
      <p:sp>
        <p:nvSpPr>
          <p:cNvPr id="46" name="Text 44"/>
          <p:cNvSpPr/>
          <p:nvPr/>
        </p:nvSpPr>
        <p:spPr>
          <a:xfrm>
            <a:off x="6199632" y="4206240"/>
            <a:ext cx="26060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Schedule via Cloud Scheduler — fully automated from here</a:t>
            </a:r>
            <a:endParaRPr lang="en-US" sz="9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PyViz – Why Charts Beat HTML Email Tables</dc:title>
  <dc:subject>PptxGenJS Presentation</dc:subject>
  <dc:creator>PyViz Team</dc:creator>
  <cp:lastModifiedBy>PyViz Team</cp:lastModifiedBy>
  <cp:revision>1</cp:revision>
  <dcterms:created xsi:type="dcterms:W3CDTF">2026-05-11T02:38:14Z</dcterms:created>
  <dcterms:modified xsi:type="dcterms:W3CDTF">2026-05-11T02:38:14Z</dcterms:modified>
</cp:coreProperties>
</file>