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85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5720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Outlook HTML Reports Need This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2029968"/>
            <a:ext cx="530352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214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charts. Line charts. Heatmaps. Funnels.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work in Outlook HTML email — until now.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Senior Management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Outlook Blocks Every Chart Library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HTML+SQL email cannot render visual charts — here is why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Outlook Strips or Ignores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&lt;canvas&gt; 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renders in Word engine — no canvas support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01368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SVG inline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Outlook versions strip &lt;svg&gt; completely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68296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04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JavaScript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JS blocked — chart.js, D3.js, Highcharts all dead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35224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71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CSS animations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91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— no animated charts or transitions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02152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387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@font-face / web fonts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58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— chart text looks broken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69080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Flexbox / Grid CSS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— layouts collapse or misalign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841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HTML Email = Tables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1234440"/>
            <a:ext cx="4251960" cy="3429000"/>
          </a:xfrm>
          <a:prstGeom prst="rect">
            <a:avLst/>
          </a:prstGeom>
          <a:solidFill>
            <a:srgbClr val="FFF7ED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PyViz, your HTML email reports are limited to:
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664208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tables with raw numbers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/ colour-coded cells at best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summaries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pasted screenshot images (stale)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trendlines, no proportions, no distributions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must interpret numbers — no visual 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personalisation per recipient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5262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Reports are data dumps, not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PyViz Solves It — Server-Side Rendering to Base64 PNG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render in Python, injected as &lt;img&gt; tags — works in every email 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changes.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prod_reports as-is.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187452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686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Charts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426464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Vega-Altair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PNG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86868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6868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Outlook-Safe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426464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&lt;img&gt; base64 tags.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JS. No SVG. Just pixels.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8595360" cy="56692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src="data:image/png;base64, ... "&gt;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plain image tag. Outlook renders images. Always has.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39312"/>
            <a:ext cx="27432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3950208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&amp; share — impossible in HTML tables, trivial in PyViz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18688" y="3639312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3639312"/>
            <a:ext cx="27432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28416" y="3950208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 — a number series can't show direction or inflection points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639312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3639312"/>
            <a:ext cx="27432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/ Funnel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3950208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drop-offs — multi-dimensional insight no HTML table can convey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— email_list to email_output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driven by configuration — no code changes per report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1480" cy="59436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22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417320"/>
            <a:ext cx="0" cy="100584"/>
          </a:xfrm>
          <a:prstGeom prst="line">
            <a:avLst/>
          </a:prstGeom>
          <a:noFill/>
          <a:ln w="19050">
            <a:solidFill>
              <a:srgbClr val="0F2D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822960"/>
            <a:ext cx="82296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822960"/>
            <a:ext cx="54864" cy="59436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email_list  (BigQuery table)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10972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(report_name × email_id). Holds: recipient_email, subject, html_template with {{CHART}} placeholders, filter_params JSON (per-recipient variable overrides).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517904"/>
            <a:ext cx="4114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5179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112264"/>
            <a:ext cx="0" cy="10058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151790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1517904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email_list ⋈ chart_config_view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17922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joins on report_name. Result: one row per (recipient × chart). Supplies chart_type, bq_table, filters, x_column, y_columns, title, color_theme, sort_position, width_px, height_px.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212848"/>
            <a:ext cx="4114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21284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" y="2807208"/>
            <a:ext cx="0" cy="10058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221284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2212848"/>
            <a:ext cx="54864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Resolution  (per recipient group)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24871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{today}, {this_month}, {this_quarter_year} auto-computed. filter_params JSON merged on top — e.g. employee_id='EMP-042' applied in WHERE clause. Subject line and title strings also resolved.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07792"/>
            <a:ext cx="411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0779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" y="3502152"/>
            <a:ext cx="0" cy="10058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0779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290779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Chart Render  (4 threads)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" y="3182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{{PLACEHOLDER}} in html_template triggers: resolve filters → SELECT x,y FROM bq_table WHERE filters → fetch data → Altair render → vl-convert → base64 PNG string.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602736"/>
            <a:ext cx="41148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60273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4197096"/>
            <a:ext cx="0" cy="10058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360273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3602736"/>
            <a:ext cx="54864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+ Save HTML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7824" y="38770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{{PLACEHOLDER}} replaced with Outlook-safe &lt;img src='data:image/png;base64,...'&gt;. One .html file written per (report_name × email_id) to output_emails/.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297680"/>
            <a:ext cx="411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297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" y="4297680"/>
            <a:ext cx="8229600" cy="5943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4297680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email_output  (BigQuery audit table)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" y="4572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written: report_name, recipient_email, status (SUCCESS/WARN/FAILED), charts_injected / total_charts, error_message, processed_at timestamp.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" y="47091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is the only system touched — no files to manage, no manual steps.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New Chart — 15 Minutes, SQL Only, Zero Python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adds a chart by writing one SQL block and one token — nothing else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896112"/>
            <a:ext cx="640080" cy="237744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8961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868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UNION ALL block to chart_config_view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1207008"/>
            <a:ext cx="6400800" cy="8595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28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207008"/>
            <a:ext cx="6400800" cy="201168"/>
          </a:xfrm>
          <a:prstGeom prst="rect">
            <a:avLst/>
          </a:prstGeom>
          <a:solidFill>
            <a:srgbClr val="0D2847"/>
          </a:solidFill>
          <a:ln w="12700">
            <a:solidFill>
              <a:srgbClr val="0D2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207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9536" y="143560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this to chart_config_view DDL: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'Monthly_Sales_Report'  AS report_name,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'REGION_PIE'            AS variable_name,   -- matches {{REGION_PIE}} in template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                     AS sort_position,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'arc_altair'            AS chart_type,       -- pie / donut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'prod_reports.sales'    AS bq_table,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'month = {this_month}'  AS filters,          -- token auto-resolved at run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'region'                AS x_column,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'revenue'               AS y_columns,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'Revenue by Region'     AS title,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'{this_month} Sales Mix' AS subtitle,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'vibrant'               AS color_theme,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600                     AS width_px,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340                     AS height_px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60336" y="1207008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This is the only 'code' needed — plain SQL in BigQuery console.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24028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" y="2267712"/>
            <a:ext cx="640080" cy="237744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2677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63040" y="2240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{{REGION_PIE}} placeholder into html_template (email_list)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2578608"/>
            <a:ext cx="6400800" cy="8595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28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2578608"/>
            <a:ext cx="6400800" cy="201168"/>
          </a:xfrm>
          <a:prstGeom prst="rect">
            <a:avLst/>
          </a:prstGeom>
          <a:solidFill>
            <a:srgbClr val="0D2847"/>
          </a:solidFill>
          <a:ln w="12700">
            <a:solidFill>
              <a:srgbClr val="0D28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" y="280720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 email_list table — add placeholder in html_template: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email_list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html_template = html_template ||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&lt;h3&gt;Revenue Mix This Month&lt;/h3&gt;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{{REGION_PIE}}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report_name = 'Monthly_Sales_Report';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60336" y="2578608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Just UPDATE one column in email_list. The engine detects the token automatically.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611880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808" y="3639312"/>
            <a:ext cx="640080" cy="237744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639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63040" y="36118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engine — chart appears in every recipient's email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" y="3950208"/>
            <a:ext cx="6400800" cy="8595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28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3950208"/>
            <a:ext cx="6400800" cy="201168"/>
          </a:xfrm>
          <a:prstGeom prst="rect">
            <a:avLst/>
          </a:prstGeom>
          <a:solidFill>
            <a:srgbClr val="0D2847"/>
          </a:solidFill>
          <a:ln w="12700">
            <a:solidFill>
              <a:srgbClr val="0D28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950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9536" y="417880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chart_email_engine_v15.py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'REGION_PIE'  [arc_altair]  pos=3  (42,811 chars)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Saved → output_emails/Monthly_Sales_Report__EMP001.html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Status: SUCCESS  charts=3/3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0336" y="3950208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Python edits. No deployments. Engine picks up new row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Variables — One Chart Config, N Personalised Views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filters/titles auto-resolve per recipient — no duplicate config rows needed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Are Resolved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84048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25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filter_params 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Per-recipient override in email_list.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{"email_id":"EMP-042","region":"South"}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33832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40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TABLE_VARS (config.py)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constants — e.g. env=prod.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every email in this run.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419856"/>
            <a:ext cx="2926080" cy="9601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56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Runtime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77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{today} {this_month} {this_quarter_year}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{last_quarter_year} {this_year}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822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1188720"/>
            <a:ext cx="4434840" cy="3154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188720"/>
            <a:ext cx="1508760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1188720"/>
            <a:ext cx="1234440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188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69480" y="1188720"/>
            <a:ext cx="1572768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1887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1508760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50876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{today}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89320" y="1508760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150876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WHERE / titles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34840" y="1856232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1856232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{this_month}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1856232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185623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filters, chart subtitle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34840" y="2203704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203704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{this_year}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89320" y="2203704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220370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filters, titles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34840" y="2551176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55117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{this_quarter_year}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89320" y="2551176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255117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reports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2898648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2898648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{last_quarter_year}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9320" y="2898648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23760" y="289864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comparison charts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34840" y="3246120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24612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{email_id}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89320" y="3246120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EMP-042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24612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Per-recipient row filter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434840" y="3593592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3593592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token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989320" y="3593592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23760" y="359359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filter_params JSON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434840" y="3941064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3941064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{{CHART_VAR}}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89320" y="3941064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&lt;img&gt; tag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23760" y="394106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html_template placeholder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filters = "employee_id = '{email_id}' AND month = '{this_month}'"  →  different SQL per recipient, same config row.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Chart Types Available Today — All Config-Driven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chart_type in chart_config_view — no Python changes needed for any of these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841248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41248"/>
            <a:ext cx="214884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41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10881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344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54533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Monthly revenue, ticket volume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177393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line_altair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386584" y="841248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86584" y="841248"/>
            <a:ext cx="214884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6584" y="841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78024" y="10881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78024" y="1344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trend + fill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154533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Running total, usage over months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78024" y="177393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area_altair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90288" y="841248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841248"/>
            <a:ext cx="2148840" cy="2286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841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81728" y="10881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81728" y="1344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comparison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1728" y="154533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Top products, region ranking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81728" y="177393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bar_altair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793992" y="841248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93992" y="841248"/>
            <a:ext cx="2148840" cy="2286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841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85432" y="10881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85432" y="1344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85432" y="154533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This vs last quarter by category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85432" y="177393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grouped_bar_altair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" y="1993392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1993392"/>
            <a:ext cx="2148840" cy="2286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1993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2496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over groups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Revenue by product line by month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2926080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stacked_bar_altair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386584" y="1993392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386584" y="1993392"/>
            <a:ext cx="21488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86584" y="1993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78024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/ Pie / Donut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478024" y="2496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proportion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478024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Revenue mix by region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478024" y="2926080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arc_altair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90288" y="1993392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90288" y="1993392"/>
            <a:ext cx="21488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1993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681728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681728" y="2496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drop-off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81728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Lead → Opportunity → Closed Won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81728" y="2926080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funnel_altair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793992" y="1993392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93992" y="1993392"/>
            <a:ext cx="21488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93992" y="1993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885432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Scatter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885432" y="2496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+ size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85432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Cost vs revenue, sized by volume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885432" y="2926080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scatter_altair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3145536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82880" y="3145536"/>
            <a:ext cx="21488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31455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274320" y="36484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pattern intensity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4320" y="38496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Day × hour activity matrix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74320" y="4078224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heatmap_altair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386584" y="3145536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386584" y="3145536"/>
            <a:ext cx="21488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86584" y="31455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478024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Plot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2478024" y="36484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across groups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478024" y="38496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Order values by category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478024" y="4078224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strip_altair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590288" y="3145536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590288" y="3145536"/>
            <a:ext cx="21488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0288" y="31455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681728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681728" y="36484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spread &amp; outliers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681728" y="38496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NPS score distribution by region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681728" y="4078224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boxplot_altair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793992" y="3145536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793992" y="3145536"/>
            <a:ext cx="21488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93992" y="31455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885432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6885432" y="36484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KPI headline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885432" y="38496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Total ARR, MoM % change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85432" y="4078224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metric_card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82880" y="4297680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82880" y="4297680"/>
            <a:ext cx="21488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2880" y="42976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74320" y="45445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Chart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274320" y="480060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vs band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274320" y="5001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Sales target attainment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274320" y="523036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bullet_altair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2386584" y="4297680"/>
            <a:ext cx="21488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2386584" y="4297680"/>
            <a:ext cx="2148840" cy="2286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86584" y="42976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478024" y="45445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2478024" y="480060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detail grid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478024" y="5001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Top 10 accounts, raw breakdown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2478024" y="523036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table_chart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Report Storytelling — Before vs After PyViz Charts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radically different insight — charts answer questions tables can't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22960"/>
            <a:ext cx="4297680" cy="256032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Is revenue growing or declining?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155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95528" y="109728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of 12 monthly numbers in a table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389888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898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95528" y="13716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line_altair — trend line instantly shows direction, inflection points, seasonality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822960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22960"/>
            <a:ext cx="4297680" cy="256032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Which region contributes most?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184648" y="109728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column in a table — reader must compare 8 rows mentally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389888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3898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184648" y="13716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arc_altair (pie/donut) — proportion is visual and instant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1892808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1892808"/>
            <a:ext cx="4297680" cy="25603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892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Where does our pipeline drop off?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185416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18541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5528" y="216712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count cells in a 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459736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597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95528" y="244144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funnel_altair — each stage drop-off is visible, call-to-action obvious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892808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892808"/>
            <a:ext cx="4297680" cy="256032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892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Are we hitting sales target?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185416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18541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84648" y="216712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actual and target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459736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4597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84648" y="244144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bullet_altair — shows actual vs target vs tolerance band at a glance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2962656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2962656"/>
            <a:ext cx="4297680" cy="256032"/>
          </a:xfrm>
          <a:prstGeom prst="rect">
            <a:avLst/>
          </a:prstGeom>
          <a:solidFill>
            <a:srgbClr val="0F2D54">
              <a:alpha val="90000"/>
            </a:srgbClr>
          </a:solidFill>
          <a:ln w="12700">
            <a:solidFill>
              <a:srgbClr val="0F2D54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962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Which product × month is weakest?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255264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2552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95528" y="323697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 table — reader must scan entire grid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529584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5295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95528" y="351129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heatmap_altair — colour intensity shows problem cells instantly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2962656"/>
            <a:ext cx="4297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17720" y="2962656"/>
            <a:ext cx="4297680" cy="256032"/>
          </a:xfrm>
          <a:prstGeom prst="rect">
            <a:avLst/>
          </a:prstGeom>
          <a:solidFill>
            <a:srgbClr val="6D28D9">
              <a:alpha val="90000"/>
            </a:srgbClr>
          </a:solidFill>
          <a:ln w="12700">
            <a:solidFill>
              <a:srgbClr val="6D28D9">
                <a:alpha val="9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962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How does this month compare to last?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09160" y="3255264"/>
            <a:ext cx="420624" cy="18288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2552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184648" y="323697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numbers — requires arithmetic to see delta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3529584"/>
            <a:ext cx="420624" cy="182880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35295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84648" y="351129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grouped_bar_altair — comparison is visual, delta is obvious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SQL Email Today vs PyViz — Side by Side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BigQuery and HTML — PyViz adds the visual layer your current stack cannot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286000" cy="32004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22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30632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822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HTML + SQL Email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822960"/>
            <a:ext cx="32004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PyViz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170432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1704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BigQuery SQL — same as today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1170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BigQuery tables — no migration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508760"/>
            <a:ext cx="8641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5087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1508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possible in Outlook HTML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1508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Server-side PNG — works in all clients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847088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470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18470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Blocked (SVG/JS stripped)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1847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arc_altair — config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185416"/>
            <a:ext cx="8641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8541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 trends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21854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Blocked (canvas / JS)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21854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line_altair / area_altair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523744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237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25237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Impossible — 2D needs canvas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15000" y="25237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heatmap_altair — intensity colours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862072"/>
            <a:ext cx="8641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620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/ conversion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06040" y="28620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Four cells in a table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28620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funnel_altair — visual drop-off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200400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2004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Per-recipient filter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06040" y="32004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SQL query per person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15000" y="3200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{email_id} token in shared config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538728"/>
            <a:ext cx="8641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3872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metric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35387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Edit HTML + test across clients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35387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UNION ALL row in BQ view — 15 min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877056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87705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subject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06040" y="3877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per recipient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15000" y="3877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Resolved from filter_params JSON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" y="4215384"/>
            <a:ext cx="8641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215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06040" y="42153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feasible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15000" y="42153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dark_mode flag per chart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4553712"/>
            <a:ext cx="8641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55371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error tracking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06040" y="45537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built-in mechanism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15000" y="4553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email_output table — status + errors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Summary — Setup Once, Extend Forever Without Python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unlocks permanent self-serve chart capability for analysts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(~4 days total)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212848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822960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170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170432"/>
            <a:ext cx="1024128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170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6304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engine + BQ schema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4630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463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 + DBA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801368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01368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 template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42032" y="1801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1801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139696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1396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chart_config_view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42032" y="213969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21396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478024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7802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 account + IAM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42032" y="24780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01568" y="24780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Admin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1635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(Cloud Scheduler)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42032" y="28163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01568" y="28163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154680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546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report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42032" y="31546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01568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Dev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493008"/>
            <a:ext cx="4224528" cy="329184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493008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42032" y="34930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6344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Analyst Self-Serve (No Dev Needed)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17720" y="1170432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1170432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225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chart to existing report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28032" y="1472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·  Analyst (SQL)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1792224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1792224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8470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report recipient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28032" y="20939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 ·  Analyst (INSERT)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2414016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2414016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468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title / colour theme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28032" y="2715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 ·  Analyst (UPDATE)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3035808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17720" y="3035808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090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report from scratch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28032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  ·  Analyst + Dev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3657600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3657600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entirely new chart type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828032" y="3959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day  ·  Python Dev (once)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4279392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4279392"/>
            <a:ext cx="6400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automated run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828032" y="45811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  ·  Fully automated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49808"/>
            <a:ext cx="265176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new chart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49808"/>
            <a:ext cx="26517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effort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chart (SQL only)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749808"/>
            <a:ext cx="265176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available today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98648"/>
            <a:ext cx="265176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setup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end-to-end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898648"/>
            <a:ext cx="265176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38328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 emails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per recipient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898648"/>
            <a:ext cx="2651760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0936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compatible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PNG — every email client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Automated Chart Email Engine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Recommended Next Steps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· Chart Email Engine ·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PyViz Gives You Over HTML + SQL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207008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HTML reports cannot render pie charts, line charts, heatmaps, or funnels in Outlook — Outlook strips every chart technology (canvas, SVG, JS).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836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1773936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renders charts server-side in Python and injects base64 PNG &lt;img&gt; tags — the one format Outlook has always supported.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505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234086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chart takes 15 minutes of SQL — one UNION ALL block in chart_config_view plus one {{TOKEN}} in the HTML template.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290779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like {this_month}, {email_id}, {region} mean one config row serves every recipient with personalised data — no duplicate rows.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" y="3474720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fully audited: charts_injected, status, and error messages written to email_output BigQuery table.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513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4041648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chart types (trend, comparison, part-to-whole, distribution, KPI, detail) are live and available to any report today.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841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120700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33502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9632" y="128016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GCP service account + BigQuery dataset access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193852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0665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9632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BQ schema SQL → create email_list, chart_config_view, email_output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267004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279806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27432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one existing HTML report — replace one table with a line chart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40156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35295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9632" y="34747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 — review generated HTML for all recipients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413308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60720" y="4261104"/>
            <a:ext cx="347472" cy="347472"/>
          </a:xfrm>
          <a:prstGeom prst="ellipse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99632" y="4206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via Cloud Scheduler — fully automated from here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PyViz – Why Charts Beat HTML Email Tables</dc:title>
  <dc:subject>PptxGenJS Presentation</dc:subject>
  <dc:creator>PyViz Team</dc:creator>
  <cp:lastModifiedBy>PyViz Team</cp:lastModifiedBy>
  <cp:revision>1</cp:revision>
  <dcterms:created xsi:type="dcterms:W3CDTF">2026-05-07T02:33:40Z</dcterms:created>
  <dcterms:modified xsi:type="dcterms:W3CDTF">2026-05-07T02:33:40Z</dcterms:modified>
</cp:coreProperties>
</file>